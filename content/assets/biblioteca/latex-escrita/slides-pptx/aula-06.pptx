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8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45309"/>
                </a:solidFill>
                <a:latin typeface="Arial"/>
              </a:defRPr>
            </a:pPr>
            <a:r>
              <a:t>AULA 06: REVISÃO SISTEMÁTICA DA LITERATURA E PROTOCOLO PRISMA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Estratégias boolianas (Scopus/WoS/IEEE) e fluxograma PRISMA 2020\nCurso: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Arial"/>
              </a:defRPr>
            </a:pPr>
            <a:r>
              <a:t>Pedro Henrique Rocha de Andrade</a:t>
            </a:r>
          </a:p>
          <a:p>
            <a:pPr>
              <a:defRPr sz="1200">
                <a:solidFill>
                  <a:srgbClr val="6D28D9"/>
                </a:solidFill>
              </a:defRPr>
            </a:pPr>
            <a:r>
              <a:t>Instituto Federal Fluminense (IFF) — Campus Bom Jesus do Itabapoana\nCurso: LaTeX e Escrita Acadêmica</a:t>
            </a:r>
          </a:p>
        </p:txBody>
      </p:sp>
      <p:pic>
        <p:nvPicPr>
          <p:cNvPr id="5" name="Picture 4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Introdução à Revisão Sistemática da Literatura (RSL)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 Revisão Sistemática da Literatura (RSL) é uma abordagem metodológica rigorosa, cujo objetivo central é mapear, avaliar, sintetizar e sumarizar as evidências científicas disponíveis sobre um tema específico. Diferente da revisão narrativa (tradicional), que frequentemente apresenta um viés de seleção por parte do autor, a RSL busca a máxima isenção, replicabilidade e transparência.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No contexto da escrita acadêmica de alto nível, estruturar um capítulo de estado da arte ou de revisão de literatura através de métodos sistemáticos confere enorme peso à tese ou dissertação. A ABNT NBR 14724 recomenda que a fundamentação teórica seja consistente, atualizada e metodologicamente embasada. A RSL atende perfeitamente a esse requisito.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1.1 Revisão Narrativa vs. Revisão Sistemática vs. Mapeamento Sistemático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É crucial distinguir entre as principais formas de revisão bibliográfica: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Introdução à Revisão Sistemática da Literatura (RSL)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  **Revisão Narrativa:** Típica de TCCs introdutórios. O autor escolhe as fontes segundo sua conveniência ou conhecimento prévio. Não há critério explícito de busca ou seleção. Alta suscetibilidade ao viés de confirmação.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  **Mapeamento Sistemático:** Foca em obter uma visão ampla de um campo de pesquisa, identificar lacunas e tendências de publicação (ex: evolução cronológica, principais autores, veículos de publicação). Menor ênfase na análise profunda do conteúdo de cada estudo.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  **Revisão Sistemática:** Parte de uma Questão de Pesquisa (Research Question) muito bem delineada. O objetivo é responder a essa pergunta extraindo e sintetizando dados qualitativos ou quantitativos dos estudos primários.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Bases Indexadas e Motores de Busca Científica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Para garantir a validade de uma RSL, as buscas devem ser realizadas em bases de dados eletrônicas reconhecidas e de alto impacto na área do conhecimento da pesquisa.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2.1 Principais Bases Multidisciplinares e Específicas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1.  **Scopus (Elsevier):** Atualmente a maior base de dados de resumos e citações de literatura revisada por pares. Essencial para praticamente todas as áreas da engenharia e tecnologia.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2.  **Web of Science (WoS - Clarivate):** Conhecida pelo rigor em sua Coleção Principal. O índice h e o Fator de Impacto (JCR) são métricas consagradas vinculadas a esta base.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Bases Indexadas e Motores de Busca Científica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3.  **IEEE Xplore:** Base de dados fundamental e compulsória para pesquisadores de Engenharia Elétrica, Computação, Eletrônica e Telecomunicações.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4.  **ACM Digital Library:** Crucial para pesquisa em Ciência da Computação pura, Interação Humano-Computador, etc.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5.  **PubMed/MEDLINE:** Obrigatória para a área da saúde e bioengenharia.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2.2 Estratégia de Busca (String de Busca)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Bases Indexadas e Motores de Busca Científica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 estratégia de busca é o "coração" da fase de planejamento da RSL. Ela deve ser traduzida em uma string booleana que combine palavras-chave. Utiliza-se a lógica de conjuntos com os operadores **AND** (interseção), **OR** (união) e **NOT** (exclusão).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**Exemplo de estruturação (PICOC - Population, Intervention, Comparison, Outcomes, Context):**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  **População:** "IoT" OR "Internet of Things"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  **Intervenção:** "Security" OR "Cryptography" OR "Authentication"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Bases Indexadas e Motores de Busca Científica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  **Contexto:** "Smart Home" OR "Domotics"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*String resultante:* `("IoT" OR "Internet of Things") AND ("Security" OR "Cryptography" OR "Authentication") AND ("Smart Home" OR "Domotics")`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&gt; [!TIP] Dica de Pesquisa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&gt; Lembre-se de adaptar a string de busca para a sintaxe específica de cada base de dados. O Scopus, por exemplo, aceita chaves `{ }` para busca exata e `*` como curinga.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O Protocolo PRISMA 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O **PRISMA** (Preferred Reporting Items for Systematic reviews and Meta-Analyses) é um conjunto de diretrizes baseadas em evidências para relatar revisões sistemáticas e meta-análises. A versão atualizada (PRISMA 2020) consiste em um checklist de 27 itens e um fluxograma detalhado.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Embora o PRISMA seja essencialmente um guia de **relato** (como escrever o artigo/capítulo), ele também impulsiona a qualidade da **condução** da pesquisa, pois obriga o pesquisador a registrar dados métricos desde o início.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3.1 O Fluxograma PRISMA (Flow Diagram)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O fluxograma mapeia o fluxo de informação ao longo das quatro fases essenciais da RSL. É mandatório em dissertações e teses que aleguem conduzir uma revisão sistemática.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O Protocolo PRISMA 2020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1.  **Identificação (Identification):** Número total de registros encontrados nas bases de dados.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2.  **Triagem (Screening):** Remoção de duplicatas (via software como Mendeley, Zotero, ou Rayyan) e leitura de títulos e resumos.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3.  **Elegibilidade (Eligibility):** Leitura na íntegra dos artigos pré-selecionados e aplicação rigorosa dos Critérios de Inclusão e Exclusão (CI/CE).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4.  **Inclusão (Included):** Número final de artigos primários que comporão a síntese qualitativa e/ou meta-análise quantitativa.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O Protocolo PRISMA 2020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563EB"/>
                </a:solidFill>
              </a:defRPr>
            </a:pPr>
            <a:r>
              <a:t>[Vale Lembrar] 3.2 Critérios de Inclusão e Exclusão (CI e CE)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Os critérios devem ser definidos *a priori* no protocolo da pesquisa, antes da execução das buscas, para evitar que o pesquisador manipule os resultados para adequar às suas hipóteses.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**Exemplos de CE (Critérios de Exclusão):**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  CE1: O artigo não está escrito em inglês, português ou espanhol.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 O Protocolo PRISMA 2020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  CE2: O estudo é apenas um resumo expandido (short paper) de menos de 4 páginas.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  CE3: O trabalho foca em hardware, não no software/algoritmo (dependendo do escopo da tese).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do Processo (Mermaid)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Abaixo apresentamos uma simplificação do Fluxograma PRISMA estruturado em Mermaid: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flowchart TD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A[Registros identificados nas bases: \n Scopus=150, WoS=120, IEEE=80 \n Total = 350] --&gt; B(Remoção de Duplicatas);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B --&gt; |90 duplicatas removidas| C[Registros para Triagem de Título/Resumo \n Total = 260];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do Processo (Mermaid)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Abaixo apresentamos uma simplificação do Fluxograma PRISMA estruturado em Mermaid: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flowchart TD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A[Registros identificados nas bases: \n Scopus=150, WoS=120, IEEE=80 \n Total = 350] --&gt; B(Remoção de Duplicatas);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B --&gt; |90 duplicatas removidas| C[Registros para Triagem de Título/Resumo \n Total = 260];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do Processo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C --&gt; D{Aplicação de Critérios};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D --&gt;|Excluídos após leitura de resumo: 200| E[Artigos para Leitura na Íntegra \n Total = 60];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E --&gt; F{Leitura Completa};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F --&gt;|Excluídos (Falta de detalhe metodológico, \n foco diferente): 35| G[Estudos Incluídos na Revisão \n Total = 25];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do Processo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style A fill:#e1f5fe,stroke:#01579b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style G fill:#c8e6c9,stroke:#1b5e20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Estudo de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 Cenário:** A doutoranda Juliana está conduzindo sua tese sobre "Uso de Inteligência Artificial para Previsão de Falhas em Motores de Indução". Ela precisa escrever o Capítulo 2 (Fundamentação Teórica e Trabalhos Relacionados).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**A Prática Incorreta (Narrativa):** Juliana vai no Google Scholar, digita "IA motores indução", escolhe os 10 primeiros artigos em português que parecem interessantes e escreve um texto resumindo cada um. Seu orientador recusa, apontando viés e falta de profundidade.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**A Prática Correta (Sistemática com PRISMA):**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1.  Juliana elabora uma string em inglês: `("Artificial Intelligence" OR "Machine Learning" OR "Deep Learning") AND ("Induction Motor" OR "Electric Motor") AND ("Fault Diagnosis" OR "Predictive Maintenance")`.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Estudo de Caso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2.  Executa a string no IEEE Xplore, Scopus e Web of Science, restringindo para os últimos 5 anos (2021-2026).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3.  Retorna 450 artigos. Ela importa todos para o Rayyan (software de triagem web). Remove 150 duplicatas.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4.  Lê os 300 abstracts e aplica seus CE (ex: exclui artigos que simulam apenas em ambiente virtual sem bancada de testes). Restam 50 artigos.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5.  Lê os 50 na íntegra. Exclui mais 20 por não apresentarem as métricas de acurácia ou matriz de confusão dos modelos.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Estudo de Caso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6.  Sobra um portfólio de 30 artigos primários de altíssima qualidade. Ela cria tabelas de extração de dados e escreve um capítulo comparando os métodos, descobrindo exatamente qual a lacuna (gap) que sua tese irá preencher (ex: modelos de Deep Learning em motores sob falha incipiente do estator).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7.  Juliana gera o Fluxograma PRISMA no LaTeX (usando TikZ ou inserindo uma figura exportada) e documenta todo o processo, garantindo reprodutibilidade.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6. Exercício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**Objetivo:** Estruturar a base de uma RSL.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1.  Defina uma Questão de Pesquisa (RQ) principal alinhada ao tema do seu projeto (TCC, Dissertação ou Tese).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2.  Utilizando a estrutura PICOC (ou PICO), defina as palavras-chave principais e secundárias.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3.  Construa a String de Busca Boolean em inglês.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6. Exercício Prático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4.  Liste pelo menos 3 Critérios de Inclusão e 3 Critérios de Exclusão objetivos e inquestionáveis.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5.  Desenhe um esboço do Fluxograma PRISMA (em papel ou usando ferramenta diagramadora) com números hipotéticos de artigos em cada fase para visualizar a estrutura.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