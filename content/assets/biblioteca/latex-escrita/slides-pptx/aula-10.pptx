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8"/>
    <p:sldId id="280" r:id="rId20"/>
    <p:sldId id="281" r:id="rId21"/>
    <p:sldId id="282" r:id="rId22"/>
    <p:sldId id="283" r:id="rId23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13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45309"/>
                </a:solidFill>
                <a:latin typeface="Arial"/>
              </a:defRPr>
            </a:pPr>
            <a:r>
              <a:t>AULA 10: DISCUSSÃO, CITAÇÕES NBR 10520 E REFERÊNCIAS NBR 6023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Fechamento lógico, sistema autor-data ABNT NBR 10520:2023 e NBR 6023:2018/2020\nCurso: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Arial"/>
              </a:defRPr>
            </a:pPr>
            <a:r>
              <a:t>Pedro Henrique Rocha de Andrade</a:t>
            </a:r>
          </a:p>
          <a:p>
            <a:pPr>
              <a:defRPr sz="1200">
                <a:solidFill>
                  <a:srgbClr val="6D28D9"/>
                </a:solidFill>
              </a:defRPr>
            </a:pPr>
            <a:r>
              <a:t>Instituto Federal Fluminense (IFF) — Campus Bom Jesus do Itabapoana\nCurso: LaTeX e Escrita Acadêmica</a:t>
            </a:r>
          </a:p>
        </p:txBody>
      </p:sp>
      <p:pic>
        <p:nvPicPr>
          <p:cNvPr id="5" name="Picture 4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1. O Papel da Discussão e da 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Após a apresentação fria e objetiva dos dados no capítulo de Resultados, a escrita acadêmica exige que o pesquisador eleve o nível da tese e promova o embate intelectual, interpretando criticamente seus achados na **Discussão** e fechando as amarras lógicas na **Conclusão**.</a:t>
            </a:r>
          </a:p>
          <a:p>
            <a:pPr>
              <a:defRPr sz="2000">
                <a:solidFill>
                  <a:srgbClr val="2563EB"/>
                </a:solidFill>
              </a:defRPr>
            </a:pPr>
            <a:r>
              <a:t>[Vale Lembrar] 1.1 A Arte da Discussão de Resultados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A Discussão responde ao "E daí?". Não basta mostrar que o Algoritmo A foi 15% mais rápido que o Algoritmo B. A Discussão deve: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  **Confrontar a Literatura:** Comparar seus achados com as publicações analisadas na Revisão Sistemática (Capítulo 2). Seus resultados apoiam ou contradizem o estudo anterior de Silva e Santos (2025)?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1. O Papel da Discussão e da Conclusão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  **Explicar Exceções:** Justificar anomalias, dados fora do padrão (outliers) e desvios de expectativa. Se a bateria esgotou mais rápido que o calculado, por que isso ocorreu (efeito térmico, falha no componente)?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  **Evidenciar o Ineditismo e a Contribuição (Novelty):** É o momento de provar que a lacuna que originou o trabalho foi efetivamente resolvida.</a:t>
            </a:r>
          </a:p>
          <a:p>
            <a:pPr>
              <a:defRPr sz="2000">
                <a:solidFill>
                  <a:srgbClr val="2563EB"/>
                </a:solidFill>
              </a:defRPr>
            </a:pPr>
            <a:r>
              <a:t>[Vale Lembrar] 1.2 Estruturação da Conclusão (Considerações Finais)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A Conclusão (ou Considerações Finais) não deve conter citações a outros autores (salvo em casos extremíssimos) e não deve apresentar novos resultados ou gráficos. Ela deve responder taxativamente e de forma sequencial aos **Objetivos Específicos** propostos na Introdução (Capítulo 1).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1. O Papel da Discussão e da Conclusão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A estrutura consagrada: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1.  **Retomada sucinta do problema principal.**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2.  **Síntese das maiores conquistas obtidas.**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3.  **Limitações do Estudo:** Todo estudo sério tem limitações (o equipamento permitiu medir apenas até x Hertz, a amostra de pacientes foi pequena, o modelo validou apenas em simulação). Esconder limitações é o caminho mais rápido para ser criticado em uma defesa.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1. O Papel da Discussão e da Conclusão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4.  **Trabalhos Futuros:** Proposições claras para próximos alunos ou continuidade da pesquisa (Mestrado -&gt; Doutorado).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O Novo Padrão de Citações: ABNT NBR 10520:2023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A norma que rege a menção de trabalhos no corpo do texto passou por uma revolução drástica no ano de 2023, modernizando a formatação histórica da ABNT. Todo manuscrito científico precisa aplicar e entender a distinção do sistema "Autor-Data".</a:t>
            </a:r>
          </a:p>
          <a:p>
            <a:pPr>
              <a:defRPr sz="2000">
                <a:solidFill>
                  <a:srgbClr val="2563EB"/>
                </a:solidFill>
              </a:defRPr>
            </a:pPr>
            <a:r>
              <a:t>[Vale Lembrar] 2.1 Citação Indireta (Paráfrase)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É a mais utilizada em Engenharias e Exatas. O autor reescreve a ideia da obra consultada com suas próprias palavras. O fundamental é informar a autoria e o ano. Não exige número de página.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  **Autoria inserida na fluidez do texto (dentro da sintaxe da frase):** Somente a letra inicial do nome é maiúscula, independente se está ou não no fim do parágrafo.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O Novo Padrão de Citações: ABNT NBR 10520:2023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  *Exemplo:* Segundo afirmação recente de Einstein (2025), o comportamento das partículas...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  *Exemplo:* Para Hawking e Penrose (2024), a singularidade não pode ser ignorada.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  **Autoria não integrante do texto (entre parênteses):** A principal alteração da norma de 2023! Antes, a chamada de autor dentro dos parênteses devia ser em CAIXA ALTA (ex: (SILVA, 2019)). A **NBR 10520:2023 extinguiu o uso de caixa alta para nomes de autores nos parênteses**. Agora, usam-se apenas as iniciais em maiúsculo (Upper Camel Case).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  *Correto (NBR 2023):* A singularidade não pode ser ignorada nos modelos astrofísicos atuais (Hawking; Penrose, 2024).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O Novo Padrão de Citações: ABNT NBR 10520:2023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  *Errado (Obsoleto):* A singularidade não pode ser ignorada (HAWKING; PENROSE, 2024).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&gt; [!IMPORTANT] Atualização do pacote abnTeX2 (LaTeX)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&gt; Se você utiliza as macros `\cite{chave}` e `\citeonline{chave}` no LaTeX com os pacotes tradicionais do `abntex2cite`, preste atenção à versão do seu compilador. Para obedecer à norma 2023 (sem caixa alta no parêntese), as chamadas de citação das classes precisam estar atualizadas.</a:t>
            </a:r>
          </a:p>
          <a:p>
            <a:pPr>
              <a:defRPr sz="2000">
                <a:solidFill>
                  <a:srgbClr val="2563EB"/>
                </a:solidFill>
              </a:defRPr>
            </a:pPr>
            <a:r>
              <a:t>[Vale Lembrar] 2.2 Citação Direta (Transcrição Textual)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O Novo Padrão de Citações: ABNT NBR 10520:2023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Quando a frase original do autor é copiada palavra por palavra, *ipsis litteris*.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  **Curta (Até 3 linhas):** Permanece no corpo do texto, fechada obrigatoriamente entre aspas duplas (""). A indicação do ano e do **número da página é obrigatória**. Ex: "A gravidade distorce o espaço-tempo de maneira detectável" (Einstein, 1915, p. 44).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  **Longa (Mais de 3 linhas):** Sofre um destaque drástico (recuo ou indentação de 4 cm da margem esquerda, tamanho de fonte menor (geralmente 10pt) e espaçamento entrelinhas simples, **sem uso de aspas**).</a:t>
            </a:r>
          </a:p>
          <a:p>
            <a:pPr>
              <a:defRPr sz="2000">
                <a:solidFill>
                  <a:srgbClr val="2563EB"/>
                </a:solidFill>
              </a:defRPr>
            </a:pPr>
            <a:r>
              <a:t>[Vale Lembrar] 2.3 Citação de Citação (Apud)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2. O Novo Padrão de Citações: ABNT NBR 10520:2023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Ocorre quando você não leu o artigo original raro ou antigo, mas cita uma obra atual que mencionou aquele artigo. A indicação no texto deve ser conectada pela expressão em itálico *apud* (citado por). **Atenção:** o uso indiscriminado de "apud" é sinal de preguiça intelectual do pesquisador. O autor moderno, através dos PDFs online, deve buscar sempre a fonte original primária.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4. Diagrama Lógico de Encerramento da Pesquisa (Mermaid)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A(Fim da Coleta e Exibição dos Resultados) --&gt; B[Discussão Crítica];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B --&gt; C{Resultados Atendem aos Objetivos?};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C -- Sim --&gt; D(Confirmação da Hipótese);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C -- Não --&gt; E(Refutação da Hipótese / Encontro de Limitação);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4. Diagrama Lógico de Encerramento da Pesquisa (Mermaid)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D --&gt; F[Conclusão e Contribuições Inéditas];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F --&gt; G[Sugestões para Trabalhos Futuros];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G --&gt; H((Fim do Texto - Referências ABNT NBR 6023 e Anexos));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style B fill:#e1bee7,stroke:#8e24aa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4. Diagrama Lógico de Encerramento da Pesquisa (Mermaid)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D --&gt; F[Conclusão e Contribuições Inéditas];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F --&gt; G[Sugestões para Trabalhos Futuros];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G --&gt; H((Fim do Texto - Referências ABNT NBR 6023 e Anexos));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style B fill:#e1bee7,stroke:#8e24aa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4. Diagrama Lógico de Encerramento da Pesquisa (Mermaid)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style F fill:#b2ebf2,stroke:#0097a7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style H fill:#fff9c4,stroke:#fbc02d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5. Estudo de Caso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**O Cenário:** Carolina chegou ao final da escrita da sua dissertação sobre "Filtragem Ativa de Harmônicos usando Controle Preditivo".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**O Processo de Fechamento:**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1. Em Resultados, Carolina usa gráficos de espectro de frequência e tabelas de THD (Total Harmonic Distortion).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2. Na Discussão, ela escreve (usando a NBR 10520:2023 atualizada): *Ao reduzir a distorção para 2%, o sistema supera largamente os filtros passivos clássicos documentados pela literatura (Akagi; Watanabe; Aredes, 2017), confirmando a vantagem do rastreio em tempo real.*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5. Estudo de Caso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3. Ela insere uma citação direta da IEEE-519 justificando por que o limite 5% importava.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4. Na Conclusão, ela reafirma que cumpriu os 3 objetivos propostos no início da tese, lista a limitação de que seu DSP aquece em frequências elevadas e sugere que um aluno futuro implemente refrigeração ativa e um microcontrolador mais robusto.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5. Ao longo de todo o documento, Carolina usou ferramentas como JabRef e BibTeX/Biber para gerir os dados dos arquivos `.bib`. Quando ela compila seu projeto `.tex` com a diretiva `\bibliography{}`, a lista de referências NBR 6023 é gerada impecavelmente formatada com autoria em caixa alta, ano e negritos rigorosos, resolvendo dores de cabeça que durariam semanas no Word.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6. Exercício Prático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5803D"/>
                </a:solidFill>
              </a:defRPr>
            </a:pPr>
            <a:r>
              <a:t>[Importante] **Objetivo:** Adaptar formatação ao padrão 2023 e entender referências.</a:t>
            </a:r>
          </a:p>
          <a:p>
            <a:pPr>
              <a:defRPr sz="2000">
                <a:solidFill>
                  <a:srgbClr val="6D28D9"/>
                </a:solidFill>
              </a:defRPr>
            </a:pPr>
            <a:r>
              <a:t>[Prova/Trabalho] 1.  A frase a seguir está no padrão ABNT *antigo*. Reescreva-a seguindo a regra da nova **NBR 10520:2023** para autoria entre parênteses: *A estabilidade cibernética global é comprometida pela ação velada de malwares avançados (KASPERSKY; SYMANTEC; MCAFEE, 2022).*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2.  Descreva a principal diferença conceitual, de propósito na estrutura de uma tese, entre a "Discussão" e a "Conclusão".</a:t>
            </a:r>
          </a:p>
          <a:p>
            <a:pPr>
              <a:defRPr sz="2000">
                <a:solidFill>
                  <a:srgbClr val="15803D"/>
                </a:solidFill>
              </a:defRPr>
            </a:pPr>
            <a:r>
              <a:t>[Importante] 3.  Simule a criação de uma Referência Bibliográfica completa nos moldes da **NBR 6023** para um livro fictício (um tema inventado ou relacionado ao seu projeto) que possua: Dois autores, uma terceira edição, publicado na cidade do Rio de Janeiro no ano passado.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D28D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