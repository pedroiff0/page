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8"/>
    <p:sldId id="280" r:id="rId20"/>
    <p:sldId id="281" r:id="rId21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13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45309"/>
                </a:solidFill>
                <a:latin typeface="Arial"/>
              </a:defRPr>
            </a:pPr>
            <a:r>
              <a:t>AULA 07: METODOLOGIA, MATERIAIS E REPRODUTIBILIDADE</a:t>
            </a:r>
          </a:p>
          <a:p>
            <a:pPr>
              <a:defRPr sz="1600">
                <a:solidFill>
                  <a:srgbClr val="15803D"/>
                </a:solidFill>
              </a:defRPr>
            </a:pPr>
            <a:r>
              <a:t>Delineamento experimental, amostragem e reprodutibilidade (ABNT NBR 14724)\nCurso: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45309"/>
                </a:solidFill>
                <a:latin typeface="Arial"/>
              </a:defRPr>
            </a:pPr>
            <a:r>
              <a:t>Pedro Henrique Rocha de Andrade</a:t>
            </a:r>
          </a:p>
          <a:p>
            <a:pPr>
              <a:defRPr sz="1200">
                <a:solidFill>
                  <a:srgbClr val="6D28D9"/>
                </a:solidFill>
              </a:defRPr>
            </a:pPr>
            <a:r>
              <a:t>Instituto Federal Fluminense (IFF) — Campus Bom Jesus do Itabapoana\nCurso: LaTeX e Escrita Acadêmica</a:t>
            </a:r>
          </a:p>
        </p:txBody>
      </p:sp>
      <p:pic>
        <p:nvPicPr>
          <p:cNvPr id="5" name="Picture 4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1371600"/>
            <a:ext cx="1828800" cy="18288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1. O Papel Central da Metodologia na Pesquisa Científica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A seção de Metodologia, Materiais e Métodos ou Procedimentos Metodológicos é, sob muitas perspectivas, o capítulo mais crítico de uma dissertação ou tese científica. O rigor metodológico é o que separa a ciência de opiniões informadas ou anedóticas.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Conforme as diretrizes da **ABNT NBR 14724:2011**, que rege a estrutura de trabalhos acadêmicos no Brasil, a metodologia é um elemento textual obrigatório. Sua principal função é responder à pergunta: *"Como a pesquisa foi conduzida, passo a passo, a ponto de permitir que outro pesquisador replique o experimento e obtenha resultados equivalentes?"*.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A crise de reprodutibilidade científica mundial tem feito revistas de alto impacto (Qualis A1/A2, periódicos Nature, Science, IEEE Transactions) rejeitarem sumariamente manuscritos que não detalham suficientemente seus aparatos, softwares, versões e métodos de aquisição de dados.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2. Tipologia da Pesquisa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Antes de descrever os equipamentos e passos procedimentais, a seção metodológica de uma tese costuma tipificar a pesquisa quanto a diferentes esferas:</a:t>
            </a:r>
          </a:p>
          <a:p>
            <a:pPr>
              <a:defRPr sz="2000">
                <a:solidFill>
                  <a:srgbClr val="2563EB"/>
                </a:solidFill>
              </a:defRPr>
            </a:pPr>
            <a:r>
              <a:t>[Vale Lembrar] 2.1 Quanto à Natureza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  **Pesquisa Básica:** Gera conhecimentos novos e avanços teóricos sem aplicação prática imediata ou fim lucrativo.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  **Pesquisa Aplicada:** Visa gerar conhecimentos para aplicação prática e resolução de problemas específicos (muito comum em engenharias).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2. Tipologia da Pesquisa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563EB"/>
                </a:solidFill>
              </a:defRPr>
            </a:pPr>
            <a:r>
              <a:t>[Vale Lembrar] 2.2 Quanto aos Objetivos (Classificação de Gil, 2002)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  **Exploratória:** Proporciona maior familiaridade com o problema. Geralmente envolve levantamento bibliográfico profundo ou estudos de caso.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  **Descritiva:** Descreve características de determinada população ou fenômeno, ou o estabelecimento de relações entre variáveis (ex: estudos estatísticos de ocorrência).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  **Explicativa:** Identifica os fatores que determinam ou contribuem para a ocorrência dos fenômenos (a forma mais complexa, focada no "porquê").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2. Tipologia da Pesquisa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563EB"/>
                </a:solidFill>
              </a:defRPr>
            </a:pPr>
            <a:r>
              <a:t>[Vale Lembrar] 2.3 Quanto à Abordagem do Problema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  **Quantitativa:** Traduz em números as opiniões, informações e dados para classificá-los e analisá-los utilizando técnicas estatísticas.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  **Qualitativa:** A análise dos dados é feita de forma indutiva (interpretação).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  **Mista:** Combina análises quantitativas de variáveis instrumentais com análises fenomenológicas ou qualitativas (ex: medição do tempo de resposta de um software aliada à percepção de uso de especialistas humanos).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3. Descrição de Materiais, Equipamentos e Delineamento Experimental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563EB"/>
                </a:solidFill>
              </a:defRPr>
            </a:pPr>
            <a:r>
              <a:t>[Vale Lembrar] 3.1 Nomenclatura, Fabricantes e Modelos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Na redação acadêmica padrão (e isso é severamente cobrado pela NBR 14724 em trabalhos de bancada, laboratório ou simulação computacional), sempre que um material ou equipamento específico for utilizado, deve-se declarar o modelo, o fabricante e a localidade de origem (Cidade, Estado, País) entre parênteses na primeira menção.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*Incorreto:* Os testes foram feitos usando um multímetro e um osciloscópio.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*Correto (Padrão ouro):* A aquisição de tensão foi realizada empregando-se um osciloscópio digital (Modelo DPO2024B, Tektronix, Beaverton, OR, EUA) configurado com taxa de amostragem de 1 GS/s.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3. Descrição de Materiais, Equipamentos e Delineamento Experimental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563EB"/>
                </a:solidFill>
              </a:defRPr>
            </a:pPr>
            <a:r>
              <a:t>[Vale Lembrar] 3.2 Delineamento Experimental (Design of Experiments - DoE)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Se a pesquisa envolve múltiplas variáveis independentes e dependentes, a metodologia deve explicar a matriz experimental. Técnicas de planejamento fatorial (ex: 2^k, superfície de resposta) devem ser justificadas. A amostragem (quantos ensaios, número de réplicas, aleatorização) precisa estar clara para atestar a validade estatística (valor-p, intervalo de confiança).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4. O Desafio da Reprodutibilidade e Open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A "Ciência Aberta" (Open Science) demanda que os dados brutos (datasets) e códigos (scripts de R, Python, MATLAB) utilizados na análise sejam disponibilizados.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Em teses de engenharia, a reprodutibilidade atinge seu nível máximo quando o autor hospeda o código de sua metodologia no GitHub, Zenodo ou Mendeley Data, e insere o link / DOI no texto do capítulo de Metodologia, garantindo que o algoritmo de treinamento de redes neurais, ou as equações de diferenças finitas descritas em LaTeX, possam ser executadas pelos avaliadores da banca.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5. Diagrama do Delineamento Experimental (Mermaid)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A[Início do Experimento] --&gt; B(Aquisição de Dados: \n Osciloscópio X);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A --&gt; C(Modelagem Computacional: \n MATLAB R2024b);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B --&gt; D{Filtro Passa-Baixa \n fc = 1kHz};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C --&gt; E[Validação Cruzada \n k-fold = 10];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5. Diagrama do Delineamento Experimental (Mermaid)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D --&gt; F[Vetor de Características Brutas];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E --&gt; G[Treinamento do Modelo ML];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G --&gt; H((Geração de Resultados: \n Acurácia e Precisão));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H --&gt; I[Fim Metodologia];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5. Diagrama do Delineamento Experimental (Mermaid)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style A fill:#fff9c4,stroke:#fbc02d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style H fill:#dcedc8,stroke:#689f38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6. Estudo de Caso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**O Cenário:** O aluno de mestrado Carlos está desenvolvendo uma rede de sensores sem fio para monitoramento do solo na agricultura de precisão. Ele construiu os nós sensores usando microcontroladores baratos e enviou os dados para um servidor local via protocolo MQTT.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**Redação Fraca:** "No desenvolvimento, usamos sensores de umidade. Eles foram ligados ao Arduino e os dados enviados para a nuvem. Depois, fizemos a análise dos dados pelo computador para ver se a planta precisava de água." (Nota: Sem rigor, impossível replicar. Qual sensor? Qual Arduino? Qual nuvem? Como a análise foi feita?).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**Redação Científica e Reprodutível (Aplicando NBR 14724 e rigor):** "O delineamento da rede de sensores fundamentou-se na plataforma de prototipagem eletrônica ESP32 (Espressif Systems, Xangai, China). A variável independente, umidade volumétrica do solo, foi mensurada utilizando-se cinco sensores capacitivos não-corrosivos modelo v1.2 (DFRobot, Pequim, China), calibrados individualmente em laboratório. O firmware foi desenvolvido na IDE Arduino versão 2.1, operando com taxa de amostragem de 1 Hz. O tráfego de telemetria foi conduzido via protocolo MQTT, hospedado em um container Docker rodando um broker Mosquitto versão 2.0 (Eclipse Foundation, Canadá), instalado em um servidor Linux Ubuntu 22.04 LTS..."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A redação científica transforma um trabalho de 'feira de ciências' em uma dissertação robusta. O avaliador sabe exatamente as versões do software e as origens do hardware para testar as afirmações de Carlos.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6. Estudo de Caso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**O Cenário:** O aluno de mestrado Carlos está desenvolvendo uma rede de sensores sem fio para monitoramento do solo na agricultura de precisão. Ele construiu os nós sensores usando microcontroladores baratos e enviou os dados para um servidor local via protocolo MQTT.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**Redação Fraca:** "No desenvolvimento, usamos sensores de umidade. Eles foram ligados ao Arduino e os dados enviados para a nuvem. Depois, fizemos a análise dos dados pelo computador para ver se a planta precisava de água." (Nota: Sem rigor, impossível replicar. Qual sensor? Qual Arduino? Qual nuvem? Como a análise foi feita?).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**Redação Científica e Reprodutível (Aplicando NBR 14724 e rigor):** "O delineamento da rede de sensores fundamentou-se na plataforma de prototipagem eletrônica ESP32 (Espressif Systems, Xangai, China). A variável independente, umidade volumétrica do solo, foi mensurada utilizando-se cinco sensores capacitivos não-corrosivos modelo v1.2 (DFRobot, Pequim, China), calibrados individualmente em laboratório. O firmware foi desenvolvido na IDE Arduino versão 2.1, operando com taxa de amostragem de 1 Hz. O tráfego de telemetria foi conduzido via protocolo MQTT, hospedado em um container Docker rodando um broker Mosquitto versão 2.0 (Eclipse Foundation, Canadá), instalado em um servidor Linux Ubuntu 22.04 LTS..."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A redação científica transforma um trabalho de 'feira de ciências' em uma dissertação robusta. O avaliador sabe exatamente as versões do software e as origens do hardware para testar as afirmações de Carlos.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7. Exercício Prático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**Objetivo:** Exercitar a precisão na descrição metodológica e caracterização de materiais.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1.  Escreva um parágrafo (10 a 15 linhas) simulando o início do seu capítulo de Metodologia.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2.  Classifique sua pesquisa hipotética quanto à natureza, objetivo e abordagem.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3.  Descreva, pelo menos, três hardwares ou softwares críticos para a sua pesquisa. Utilize a nomenclatura padronizada com Empresa fabricante, Cidade e País entre parênteses.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7. Exercício Prático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4.  Crie um fluxograma de 5 blocos (pode ser manual) descrevendo os passos do seu procedimento principal. Como você passaria isso para LaTeX/TikZ ou Mermaid?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