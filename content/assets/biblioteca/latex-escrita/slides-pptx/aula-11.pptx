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8"/>
    <p:sldId id="280" r:id="rId20"/>
    <p:sldId id="281" r:id="rId21"/>
    <p:sldId id="282" r:id="rId22"/>
    <p:sldId id="283" r:id="rId23"/>
    <p:sldId id="284" r:id="rId24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5309"/>
                </a:solidFill>
                <a:latin typeface="Arial"/>
              </a:defRPr>
            </a:pPr>
            <a:r>
              <a:t>AULA 11: ARQUITETURA LATEX, MOTORES TEX E PREÂMBULO .TEX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Kernel LaTeX2e, motores PDFLaTeX/LuaLaTeX/XeLaTeX e preâmbulo institucional\nCurso: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Pedro Henrique Rocha de Andrade</a:t>
            </a:r>
          </a:p>
          <a:p>
            <a:pPr>
              <a:defRPr sz="1200">
                <a:solidFill>
                  <a:srgbClr val="6D28D9"/>
                </a:solidFill>
              </a:defRPr>
            </a:pPr>
            <a:r>
              <a:t>Instituto Federal Fluminense (IFF) — Campus Bom Jesus do Itabapoana\nCurso: LaTeX e Escrita Acadêmica</a:t>
            </a:r>
          </a:p>
        </p:txBody>
      </p:sp>
      <p:pic>
        <p:nvPicPr>
          <p:cNvPr id="5" name="Picture 4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Introdução à Arquitetura do Sistema TeX e LaTeX2e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 sistema TeX, criado por Donald Knuth no final da década de 1970, representa um marco na editoração eletrônica e na tipografia digital. Sua arquitetura foi concebida com o rigor matemático necessário para garantir a estabilidade do layout de documentos ao longo de décadas. O LaTeX, concebido inicialmente por Leslie Lamport como um conjunto de macros para simplificar o uso do TeX, evoluiu para o padrão de fato na escrita acadêmica, culminando na versão LaTeX2e.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1.1 O Kernel LaTeX2e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O kernel do LaTeX2e atua como a interface entre as primitivas de baixo nível do TeX (como manipulação de caixas, colas e penalidades - *boxes, glue, and penalties*) e a semântica abstrata desejada pelos autores (como seções, figuras e referências). A arquitetura modular do kernel permite a extensão através de pacotes (`.sty`) e classes (`.cls`).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O processamento de um documento LaTeX segue um pipeline rigoroso: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Introdução à Arquitetura do Sistema TeX e LaTeX2e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1. **Tokenização:** Leitura do arquivo `.tex` em caracteres e macros.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2. **Expansão:** Resolução de comandos encadeados até atingir as primitivas do TeX.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**Execução:** Alocação de memória tipográfica e formação de parágrafos.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4. **Output:** Geração do formato final (DVI ou, modernamente, PDF).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Introdução à Arquitetura do Sistema TeX e LaTeX2e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563EB"/>
                </a:solidFill>
              </a:defRPr>
            </a:pPr>
            <a:r>
              <a:t>[Vale Lembrar] 1.2 Diferenciação dos Motores TeX: PDFLaTeX, LuaLaTeX e XeLaTeX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A escolha do motor (engine) TeX determina não apenas a velocidade de compilação, mas também o suporte a fontes nativas e scripts complexos.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**PDFLaTeX:** O motor clássico por excelência. Ele traduz diretamente as primitivas do TeX para o formato PDF. Seu suporte a fontes é restrito aos formatos Type 1 e requer pacotes como `inputenc` e `fontenc` para mapear os caracteres de entrada para os glifos corretos. Apesar de ser extremamente maduro e estável, sua falta de suporte nativo a UTF-8 e fontes OpenType (OTF) sem manipulações complexas impulsionou o desenvolvimento de novos motores.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**XeLaTeX:** O pioneiro na integração nativa do TeX com fontes do sistema operacional via OpenType (OTF) e TrueType (TTF). Ele processa nativamente caracteres Unicode. Utilizando o pacote `fontspec`, é possível definir fontes de forma muito intuitiva. O XeLaTeX, contudo, realiza a geração do PDF utilizando um passo intermediário (xdv).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Introdução à Arquitetura do Sistema TeX e LaTeX2e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**LuaLaTeX:** O sucessor oficial do pdfTeX e motor de compilação do futuro. Ele embarca a linguagem de script Lua diretamente no kernel do TeX, abrindo o "caixa-preta" do TeX e permitindo manipulações programáticas complexas nos nodos tipográficos, algoritmos de hifenização e leitura de arquivos. Ele suporta nativamente UTF-8 e OTF via `fontspec` e `luaotfload`.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Estrutura Profunda do Preâmbulo `.tex`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 preâmbulo é a seção do documento LaTeX compreendida entre o `\documentclass` e o `\begin{document}`. Ele atua como o "cérebro" da configuração tipográfica. No contexto da escrita acadêmica e das normas ABNT (NBR 14724, NBR 6023, NBR 10520), o preâmbulo é vital para estabelecer as margens, fontes, espaçamentos entrelinhas e estilos bibliográficos.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2.1 Sintaxe de Invocação de Classe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 declaração `\documentclass[opções]{classe}` não apenas inicia a leitura, mas carrega o arquivo `.cls` correspondente.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% Exemplo de inicialização baseada em abntex2 ou ifftese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Estrutura Profunda do Preâmbulo `.tex`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\documentclass[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12pt,        % Tamanho da fonte (NBR 14724)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openright,   % Capítulos começam em página ímpar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twoside,     % Impressão frente e verso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Estrutura Profunda do Preâmbulo `.tex`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a4paper,     % Tamanho do papel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brazil       % Idioma principal (babel)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2.2 Carregamento Estratégico de Pacotes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A ordem de carregamento dos pacotes (`\usepackage`) no preâmbulo é crítica. Conflitos (package clashes) ocorrem frequentemente se pacotes que modificam os mesmos registradores ou comandos são carregados em ordem incorreta.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Estrutura Profunda do Preâmbulo `.tex`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Para LuaLaTeX/XeLaTeX: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\usepackage{fontspec}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\setmainfont{Times New Roman} % Em atendimento à NBR 14724 que sugere Times ou Arial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\usepackage{polyglossia}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Estrutura Profunda do Preâmbulo `.tex`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\setmainlanguage{brazil}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Para PDFLaTeX: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\usepackage[utf8]{inputenc}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\usepackage[T1]{fontenc}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Estrutura Profunda do Preâmbulo `.tex`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\usepackage{mathptmx} % Fonte similar a Times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Estudo de Caso: Migração de PDFLaTeX para LuaLaTeX em uma Tese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 Prof. João, da Engenharia de Materiais, estava desenvolvendo sua tese em PDFLaTeX. Ele enfrentava problemas de lentidão extrema e erros de *out of memory* (*TeX capacity exceeded*) ao lidar com mais de 200 figuras em alta resolução e extensos blocos de código TikZ, além de dificuldades para incorporar uma fonte OpenType exigida pelo padrão visual da universidade.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A intervenção requerida foi a alteração do motor para **LuaLaTeX**. O preâmbulo foi refatorado: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1. Remoção total de `\usepackage[utf8]{inputenc}` e `\usepackage[T1]{fontenc}`.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2. Inclusão de `\usepackage{fontspec}` e definição nativa da fonte.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Estudo de Caso: Migração de PDFLaTeX para LuaLaTeX em uma Tese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 Prof. João, da Engenharia de Materiais, estava desenvolvendo sua tese em PDFLaTeX. Ele enfrentava problemas de lentidão extrema e erros de *out of memory* (*TeX capacity exceeded*) ao lidar com mais de 200 figuras em alta resolução e extensos blocos de código TikZ, além de dificuldades para incorporar uma fonte OpenType exigida pelo padrão visual da universidade.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A intervenção requerida foi a alteração do motor para **LuaLaTeX**. O preâmbulo foi refatorado: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1. Remoção total de `\usepackage[utf8]{inputenc}` e `\usepackage[T1]{fontenc}`.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2. Inclusão de `\usepackage{fontspec}` e definição nativa da fonte.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Estudo de Caso: Migração de PDFLaTeX para LuaLaTeX em uma Tese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3. Utilização da capacidade dinâmica de memória do LuaTeX para lidar com gráficos vetoriais imensos sem estourar registradores (*save size* ou *main memory*).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de Arquitetura dos Motores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A[Arquivo Fonte .tex] --&gt;|Engine| B{Seletor de Motor}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B --&gt;|pdfLaTeX| C[Compilação Clássica pdfTeX]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B --&gt;|XeLaTeX| D[Integração Fontes OS xdv2pdf]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B --&gt;|LuaLaTeX| E[Motor com Script Lua Embutido]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de Arquitetura dos Motores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C --&gt; F((Saída PDF))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style A fill:#f9f,stroke:#333,stroke-width:2px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style F fill:#bfb,stroke:#333,stroke-width:2px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**Objetivo:** Criar um preâmbulo "à prova de balas" para LuaLaTeX compatível com as margens da NBR 14724.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1. Crie um arquivo `exercicio.tex`.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2. Utilize a classe `article` com `12pt` e `a4paper`.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3. Configure o pacote `geometry` para margens ABNT: Esquerda e Superior: 3cm, Direita e Inferior: 2cm.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Exercício Prático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4. Carregue o `fontspec` e configure a fonte 'Arial' (ou similar disponível no seu SO).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5. Compile com o motor LuaLaTeX.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