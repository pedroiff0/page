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sldIdLst>
    <p:sldId id="256" r:id="rId7"/>
    <p:sldId id="269" r:id="rId9"/>
    <p:sldId id="270" r:id="rId10"/>
    <p:sldId id="271" r:id="rId11"/>
    <p:sldId id="272" r:id="rId12"/>
    <p:sldId id="273" r:id="rId13"/>
    <p:sldId id="274" r:id="rId14"/>
    <p:sldId id="275" r:id="rId15"/>
    <p:sldId id="276" r:id="rId16"/>
    <p:sldId id="277" r:id="rId17"/>
    <p:sldId id="278" r:id="rId18"/>
    <p:sldId id="279" r:id="rId8"/>
    <p:sldId id="280" r:id="rId20"/>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13.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ff_bji_light.png"/>
          <p:cNvPicPr>
            <a:picLocks noChangeAspect="1"/>
          </p:cNvPicPr>
          <p:nvPr/>
        </p:nvPicPr>
        <p:blipFill>
          <a:blip r:embed="rId2"/>
          <a:stretch>
            <a:fillRect/>
          </a:stretch>
        </p:blipFill>
        <p:spPr>
          <a:xfrm>
            <a:off x="731520" y="457200"/>
            <a:ext cx="2316480" cy="868680"/>
          </a:xfrm>
          <a:prstGeom prst="rect">
            <a:avLst/>
          </a:prstGeom>
        </p:spPr>
      </p:pic>
      <p:sp>
        <p:nvSpPr>
          <p:cNvPr id="3" name="TextBox 2"/>
          <p:cNvSpPr txBox="1"/>
          <p:nvPr/>
        </p:nvSpPr>
        <p:spPr>
          <a:xfrm>
            <a:off x="731520" y="1645920"/>
            <a:ext cx="10728655" cy="2286000"/>
          </a:xfrm>
          <a:prstGeom prst="rect">
            <a:avLst/>
          </a:prstGeom>
          <a:noFill/>
        </p:spPr>
        <p:txBody>
          <a:bodyPr wrap="square">
            <a:spAutoFit/>
          </a:bodyPr>
          <a:lstStyle/>
          <a:p>
            <a:pPr>
              <a:defRPr sz="2600" b="1">
                <a:solidFill>
                  <a:srgbClr val="B45309"/>
                </a:solidFill>
                <a:latin typeface="Arial"/>
              </a:defRPr>
            </a:pPr>
            <a:r>
              <a:t>AULA 08: ÉTICA NA PESQUISA (PLATAFORMA BRASIL) E IA</a:t>
            </a:r>
          </a:p>
          <a:p>
            <a:pPr>
              <a:defRPr sz="1600">
                <a:solidFill>
                  <a:srgbClr val="15803D"/>
                </a:solidFill>
              </a:defRPr>
            </a:pPr>
            <a:r>
              <a:t>Submissão ao CEP/CONEP via Plataforma Brasil e uso ético de LLMs na escrita\nCurso: LaTeX e Escrita Acadêmica — Normas ABNT</a:t>
            </a:r>
          </a:p>
        </p:txBody>
      </p:sp>
      <p:sp>
        <p:nvSpPr>
          <p:cNvPr id="4" name="TextBox 3"/>
          <p:cNvSpPr txBox="1"/>
          <p:nvPr/>
        </p:nvSpPr>
        <p:spPr>
          <a:xfrm>
            <a:off x="731520" y="4389120"/>
            <a:ext cx="10728655" cy="1645920"/>
          </a:xfrm>
          <a:prstGeom prst="rect">
            <a:avLst/>
          </a:prstGeom>
          <a:noFill/>
        </p:spPr>
        <p:txBody>
          <a:bodyPr wrap="square">
            <a:spAutoFit/>
          </a:bodyPr>
          <a:lstStyle/>
          <a:p>
            <a:pPr>
              <a:defRPr sz="1400" b="1">
                <a:solidFill>
                  <a:srgbClr val="B45309"/>
                </a:solidFill>
                <a:latin typeface="Arial"/>
              </a:defRPr>
            </a:pPr>
            <a:r>
              <a:t>Pedro Henrique Rocha de Andrade</a:t>
            </a:r>
          </a:p>
          <a:p>
            <a:pPr>
              <a:defRPr sz="1200">
                <a:solidFill>
                  <a:srgbClr val="6D28D9"/>
                </a:solidFill>
              </a:defRPr>
            </a:pPr>
            <a:r>
              <a:t>Instituto Federal Fluminense (IFF) — Campus Bom Jesus do Itabapoana\nCurso: LaTeX e Escrita Acadêmica</a:t>
            </a:r>
          </a:p>
        </p:txBody>
      </p:sp>
      <p:pic>
        <p:nvPicPr>
          <p:cNvPr id="5" name="Picture 4" descr="qrcode_transparente.png"/>
          <p:cNvPicPr>
            <a:picLocks noChangeAspect="1"/>
          </p:cNvPicPr>
          <p:nvPr/>
        </p:nvPicPr>
        <p:blipFill>
          <a:blip r:embed="rId3"/>
          <a:stretch>
            <a:fillRect/>
          </a:stretch>
        </p:blipFill>
        <p:spPr>
          <a:xfrm>
            <a:off x="9601200" y="1371600"/>
            <a:ext cx="1828800" cy="18288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O Sistema CEP/CONEP e a Ética com Seres Humanos</a:t>
            </a:r>
          </a:p>
        </p:txBody>
      </p:sp>
      <p:sp>
        <p:nvSpPr>
          <p:cNvPr id="3" name="Content Placeholder 2"/>
          <p:cNvSpPr>
            <a:spLocks noGrp="1"/>
          </p:cNvSpPr>
          <p:nvPr>
            <p:ph idx="1"/>
          </p:nvPr>
        </p:nvSpPr>
        <p:spPr/>
        <p:txBody>
          <a:bodyPr/>
          <a:lstStyle/>
          <a:p/>
          <a:p>
            <a:pPr>
              <a:defRPr sz="2000">
                <a:solidFill>
                  <a:srgbClr val="15803D"/>
                </a:solidFill>
              </a:defRPr>
            </a:pPr>
            <a:r>
              <a:t>[Importante] Qualquer projeto de pesquisa, TCC, dissertação ou tese em território nacional que envolva seres humanos de forma direta ou indireta está submetido às diretrizes do Sistema CEP/CONEP (Comitê de Ética em Pesquisa / Comissão Nacional de Ética em Pesquisa), regulamentado pelo Conselho Nacional de Saúde (Resoluções CNS n. 466/2012 e n. 510/2016).</a:t>
            </a:r>
          </a:p>
          <a:p>
            <a:pPr>
              <a:defRPr sz="2000">
                <a:solidFill>
                  <a:srgbClr val="2563EB"/>
                </a:solidFill>
              </a:defRPr>
            </a:pPr>
            <a:r>
              <a:t>[Vale Lembrar] 1.1 O Que Configura "Envolvimento de Seres Humanos"?</a:t>
            </a:r>
          </a:p>
          <a:p>
            <a:pPr>
              <a:defRPr sz="2000">
                <a:solidFill>
                  <a:srgbClr val="0F172A"/>
                </a:solidFill>
              </a:defRPr>
            </a:pPr>
            <a:r>
              <a:t>Engenheiros e pesquisadores da área de exatas frequentemente (e equivocadamente) acreditam estar isentos da submissão de projetos ao CEP. No entanto, o envolvimento humano não se restringe a ensaios clínicos (dar um medicamento ao paciente). Constitui pesquisa envolvendo seres humanos trabalhos como:</a:t>
            </a:r>
          </a:p>
          <a:p>
            <a:pPr>
              <a:defRPr sz="2000">
                <a:solidFill>
                  <a:srgbClr val="15803D"/>
                </a:solidFill>
              </a:defRPr>
            </a:pPr>
            <a:r>
              <a:t>[Importante]   Aplicação de questionários, surveys ou entrevistas estruturadas via Google Forms para validar usabilidade de um software.</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O Sistema CEP/CONEP e a Ética com Seres Humanos (Cont.)</a:t>
            </a:r>
          </a:p>
        </p:txBody>
      </p:sp>
      <p:sp>
        <p:nvSpPr>
          <p:cNvPr id="3" name="Content Placeholder 2"/>
          <p:cNvSpPr>
            <a:spLocks noGrp="1"/>
          </p:cNvSpPr>
          <p:nvPr>
            <p:ph idx="1"/>
          </p:nvPr>
        </p:nvSpPr>
        <p:spPr/>
        <p:txBody>
          <a:bodyPr/>
          <a:lstStyle/>
          <a:p/>
          <a:p>
            <a:pPr>
              <a:defRPr sz="2000">
                <a:solidFill>
                  <a:srgbClr val="15803D"/>
                </a:solidFill>
              </a:defRPr>
            </a:pPr>
            <a:r>
              <a:t>[Importante]   Coleta de dados fisiológicos (sinais de EEG, ECG, frequência cardíaca) através de hardwares desenvolvidos no mestrado.</a:t>
            </a:r>
          </a:p>
          <a:p>
            <a:pPr>
              <a:defRPr sz="2000">
                <a:solidFill>
                  <a:srgbClr val="6D28D9"/>
                </a:solidFill>
              </a:defRPr>
            </a:pPr>
            <a:r>
              <a:t>[Prova/Trabalho]   Uso de bases de dados secundárias contendo informações sigilosas ou identificáveis (dados médicos, dados financeiros de usuários).</a:t>
            </a:r>
          </a:p>
          <a:p>
            <a:pPr>
              <a:defRPr sz="2000">
                <a:solidFill>
                  <a:srgbClr val="0F172A"/>
                </a:solidFill>
              </a:defRPr>
            </a:pPr>
            <a:r>
              <a:t>  Testes de interação Humano-Computador, onde um painel de usuários testa uma interface (UI/UX).</a:t>
            </a:r>
          </a:p>
          <a:p>
            <a:pPr>
              <a:defRPr sz="2000">
                <a:solidFill>
                  <a:srgbClr val="2563EB"/>
                </a:solidFill>
              </a:defRPr>
            </a:pPr>
            <a:r>
              <a:t>[Vale Lembrar] 1.2 A Plataforma Brasil e o Processo de Submissão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O Sistema CEP/CONEP e a Ética com Seres Humanos (Cont.)</a:t>
            </a:r>
          </a:p>
        </p:txBody>
      </p:sp>
      <p:sp>
        <p:nvSpPr>
          <p:cNvPr id="3" name="Content Placeholder 2"/>
          <p:cNvSpPr>
            <a:spLocks noGrp="1"/>
          </p:cNvSpPr>
          <p:nvPr>
            <p:ph idx="1"/>
          </p:nvPr>
        </p:nvSpPr>
        <p:spPr/>
        <p:txBody>
          <a:bodyPr/>
          <a:lstStyle/>
          <a:p/>
          <a:p>
            <a:pPr>
              <a:defRPr sz="2000">
                <a:solidFill>
                  <a:srgbClr val="15803D"/>
                </a:solidFill>
              </a:defRPr>
            </a:pPr>
            <a:r>
              <a:t>[Importante] A **Plataforma Brasil** é a base nacional e unificada de registros de pesquisas com seres humanos. O trâmite legal antes de iniciar a coleta de dados é absoluto:</a:t>
            </a:r>
          </a:p>
          <a:p>
            <a:pPr>
              <a:defRPr sz="2000">
                <a:solidFill>
                  <a:srgbClr val="6D28D9"/>
                </a:solidFill>
              </a:defRPr>
            </a:pPr>
            <a:r>
              <a:t>[Prova/Trabalho] 1.  O projeto deve estar redigido detalhadamente (Metodologia, Riscos, Benefícios).</a:t>
            </a:r>
          </a:p>
          <a:p>
            <a:pPr>
              <a:defRPr sz="2000">
                <a:solidFill>
                  <a:srgbClr val="0F172A"/>
                </a:solidFill>
              </a:defRPr>
            </a:pPr>
            <a:r>
              <a:t>2.  Preenche-se o formulário na Plataforma Brasil e anexa-se os documentos obrigatórios, incluindo a Folha de Rosto institucional assinada.</a:t>
            </a:r>
          </a:p>
          <a:p>
            <a:pPr>
              <a:defRPr sz="2000">
                <a:solidFill>
                  <a:srgbClr val="15803D"/>
                </a:solidFill>
              </a:defRPr>
            </a:pPr>
            <a:r>
              <a:t>[Importante] 3.  O fundamental é o **TCLE (Termo de Consentimento Livre e Esclarecido)**. Esse documento será lido e assinado pelo participante (ou por meios eletrônicos validados). Ele deve explicar a pesquisa em linguagem não técnica, deixar claro que o sujeito pode desistir a qualquer momento sem punição, e garantir confidencialidade, anonimato e destinação dos dados.</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O Sistema CEP/CONEP e a Ética com Seres Humanos (Cont.)</a:t>
            </a:r>
          </a:p>
        </p:txBody>
      </p:sp>
      <p:sp>
        <p:nvSpPr>
          <p:cNvPr id="3" name="Content Placeholder 2"/>
          <p:cNvSpPr>
            <a:spLocks noGrp="1"/>
          </p:cNvSpPr>
          <p:nvPr>
            <p:ph idx="1"/>
          </p:nvPr>
        </p:nvSpPr>
        <p:spPr/>
        <p:txBody>
          <a:bodyPr/>
          <a:lstStyle/>
          <a:p/>
          <a:p>
            <a:pPr>
              <a:defRPr sz="2000">
                <a:solidFill>
                  <a:srgbClr val="15803D"/>
                </a:solidFill>
              </a:defRPr>
            </a:pPr>
            <a:r>
              <a:t>[Importante] 4.  A aprovação deve ser obtida **antes** do início de qualquer experimento humano. Pesquisas que coletam dados e depois tentam aprovação ética são negadas, correndo risco legal grave (falsidade, violação de direitos humanos).</a:t>
            </a:r>
          </a:p>
          <a:p>
            <a:pPr>
              <a:defRPr sz="2000">
                <a:solidFill>
                  <a:srgbClr val="6D28D9"/>
                </a:solidFill>
              </a:defRPr>
            </a:pPr>
            <a:r>
              <a:t>[Prova/Trabalho] 5.  No texto da Tese/Artigo, é compulsório indicar explicitamente o número do **Certificado de Apresentação de Apreciação Ética (CAAE)** da aprovação.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2. A Inserção de Modelos de Linguagem (LLMs e IA Generativa) na Ciência</a:t>
            </a:r>
          </a:p>
        </p:txBody>
      </p:sp>
      <p:sp>
        <p:nvSpPr>
          <p:cNvPr id="3" name="Content Placeholder 2"/>
          <p:cNvSpPr>
            <a:spLocks noGrp="1"/>
          </p:cNvSpPr>
          <p:nvPr>
            <p:ph idx="1"/>
          </p:nvPr>
        </p:nvSpPr>
        <p:spPr/>
        <p:txBody>
          <a:bodyPr/>
          <a:lstStyle/>
          <a:p/>
          <a:p>
            <a:pPr>
              <a:defRPr sz="2000">
                <a:solidFill>
                  <a:srgbClr val="15803D"/>
                </a:solidFill>
              </a:defRPr>
            </a:pPr>
            <a:r>
              <a:t>[Importante] Com o surgimento e onipresença de Large Language Models (LLMs) como ChatGPT, Claude, Gemini, e DeepSeek, a academia enfrenta um novo desafio ético: a autoria, integridade e o plágio sintético.</a:t>
            </a:r>
          </a:p>
          <a:p>
            <a:pPr>
              <a:defRPr sz="2000">
                <a:solidFill>
                  <a:srgbClr val="6D28D9"/>
                </a:solidFill>
              </a:defRPr>
            </a:pPr>
            <a:r>
              <a:t>[Prova/Trabalho] Veículos editoriais de imenso prestígio (Nature, Science, IEEE, Elsevier) publicaram, a partir de 2023, diretrizes severas para o uso destas ferramentas. A comunidade científica aceita a IA como uma ferramenta de auxílio produtivo, mas **repudia a IA como autora intelectual**.</a:t>
            </a:r>
          </a:p>
          <a:p>
            <a:pPr>
              <a:defRPr sz="2000">
                <a:solidFill>
                  <a:srgbClr val="2563EB"/>
                </a:solidFill>
              </a:defRPr>
            </a:pPr>
            <a:r>
              <a:t>[Vale Lembrar] 2.1 Diretrizes de Uso Transparente</a:t>
            </a:r>
          </a:p>
          <a:p>
            <a:pPr>
              <a:defRPr sz="2000">
                <a:solidFill>
                  <a:srgbClr val="15803D"/>
                </a:solidFill>
              </a:defRPr>
            </a:pPr>
            <a:r>
              <a:t>[Importante] Para evitar processos de sindicância e perda de títulos, a conduta acadêmica atual demanda transparência radical no uso de Inteligência Artificial:</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2. A Inserção de Modelos de Linguagem (LLMs e IA Generativa) na Ciência (Cont.)</a:t>
            </a:r>
          </a:p>
        </p:txBody>
      </p:sp>
      <p:sp>
        <p:nvSpPr>
          <p:cNvPr id="3" name="Content Placeholder 2"/>
          <p:cNvSpPr>
            <a:spLocks noGrp="1"/>
          </p:cNvSpPr>
          <p:nvPr>
            <p:ph idx="1"/>
          </p:nvPr>
        </p:nvSpPr>
        <p:spPr/>
        <p:txBody>
          <a:bodyPr/>
          <a:lstStyle/>
          <a:p/>
          <a:p>
            <a:pPr>
              <a:defRPr sz="2000">
                <a:solidFill>
                  <a:srgbClr val="15803D"/>
                </a:solidFill>
              </a:defRPr>
            </a:pPr>
            <a:r>
              <a:t>[Importante] 1.  **Ferramentas de IA Não São Autoras:** Um software não pode assumir responsabilidade legal e ética (accountability) por possíveis fraudes ou erros no texto. Assim, IAs não podem figurar como coautoras de artigos ou teses.</a:t>
            </a:r>
          </a:p>
          <a:p>
            <a:pPr>
              <a:defRPr sz="2000">
                <a:solidFill>
                  <a:srgbClr val="6D28D9"/>
                </a:solidFill>
              </a:defRPr>
            </a:pPr>
            <a:r>
              <a:t>[Prova/Trabalho] 2.  **Transparência Metodológica (Disclosure):** Caso uma IA seja usada na revisão do texto, formatação de código LaTeX, geração de ideias estruturais, ou tradução (proofreading), isso deve ser explicitamente declarado (geralmente nos Agradecimentos, ou em uma seção de "Declaração de uso de IA").</a:t>
            </a:r>
          </a:p>
          <a:p>
            <a:pPr>
              <a:defRPr sz="2000">
                <a:solidFill>
                  <a:srgbClr val="0F172A"/>
                </a:solidFill>
              </a:defRPr>
            </a:pPr>
            <a:r>
              <a:t>3.  **Proibição para Geração de Dados Fictícios:** O uso de IAs para fabricar dados de simulação, plotar gráficos falsos ou gerar "estudos de caso hipotéticos" e apresentá-los como reais constitui infração gravíssima (fabricação de dados científicos).</a:t>
            </a:r>
          </a:p>
          <a:p>
            <a:pPr>
              <a:defRPr sz="2000">
                <a:solidFill>
                  <a:srgbClr val="15803D"/>
                </a:solidFill>
              </a:defRPr>
            </a:pPr>
            <a:r>
              <a:t>[Importante] 4.  **Alucinações e Validação Humana:** O aluno/pesquisador é 100% responsável pela precisão. Citações bibliográficas geradas por LLMs frequentemente são alucinações (artigos que não existem, autores misturados, DOIs quebrados). A checagem humana (Human-in-the-loop) é a fronteira final.</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3. Diagrama do Fluxo Ético de Pesquisa (Mermaid)</a:t>
            </a:r>
          </a:p>
        </p:txBody>
      </p:sp>
      <p:sp>
        <p:nvSpPr>
          <p:cNvPr id="3" name="Content Placeholder 2"/>
          <p:cNvSpPr>
            <a:spLocks noGrp="1"/>
          </p:cNvSpPr>
          <p:nvPr>
            <p:ph idx="1"/>
          </p:nvPr>
        </p:nvSpPr>
        <p:spPr/>
        <p:txBody>
          <a:bodyPr/>
          <a:lstStyle/>
          <a:p/>
          <a:p>
            <a:pPr>
              <a:defRPr sz="2000">
                <a:solidFill>
                  <a:srgbClr val="15803D"/>
                </a:solidFill>
              </a:defRPr>
            </a:pPr>
            <a:r>
              <a:t>[Importante] sequenceDiagram</a:t>
            </a:r>
          </a:p>
          <a:p>
            <a:pPr>
              <a:defRPr sz="2000">
                <a:solidFill>
                  <a:srgbClr val="6D28D9"/>
                </a:solidFill>
              </a:defRPr>
            </a:pPr>
            <a:r>
              <a:t>[Prova/Trabalho] participant Pesquisador as Pesquisador / Aluno</a:t>
            </a:r>
          </a:p>
          <a:p>
            <a:pPr>
              <a:defRPr sz="2000">
                <a:solidFill>
                  <a:srgbClr val="0F172A"/>
                </a:solidFill>
              </a:defRPr>
            </a:pPr>
            <a:r>
              <a:t>participant PB as Plataforma Brasil (CEP)</a:t>
            </a:r>
          </a:p>
          <a:p>
            <a:pPr>
              <a:defRPr sz="2000">
                <a:solidFill>
                  <a:srgbClr val="15803D"/>
                </a:solidFill>
              </a:defRPr>
            </a:pPr>
            <a:r>
              <a:t>[Importante] participant Voluntario as Sujeito da Pesquisa</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3. Diagrama do Fluxo Ético de Pesquisa (Mermaid) (Cont.)</a:t>
            </a:r>
          </a:p>
        </p:txBody>
      </p:sp>
      <p:sp>
        <p:nvSpPr>
          <p:cNvPr id="3" name="Content Placeholder 2"/>
          <p:cNvSpPr>
            <a:spLocks noGrp="1"/>
          </p:cNvSpPr>
          <p:nvPr>
            <p:ph idx="1"/>
          </p:nvPr>
        </p:nvSpPr>
        <p:spPr/>
        <p:txBody>
          <a:bodyPr/>
          <a:lstStyle/>
          <a:p/>
          <a:p>
            <a:pPr>
              <a:defRPr sz="2000">
                <a:solidFill>
                  <a:srgbClr val="15803D"/>
                </a:solidFill>
              </a:defRPr>
            </a:pPr>
            <a:r>
              <a:t>[Importante] participant LLM as Ferramenta IA (Ex: ChatGPT)</a:t>
            </a:r>
          </a:p>
          <a:p>
            <a:pPr>
              <a:defRPr sz="2000">
                <a:solidFill>
                  <a:srgbClr val="6D28D9"/>
                </a:solidFill>
              </a:defRPr>
            </a:pPr>
            <a:r>
              <a:t>[Prova/Trabalho] Pesquisador-&gt;&gt;PB: Submete Projeto Detalhado + TCLE</a:t>
            </a:r>
          </a:p>
          <a:p>
            <a:pPr>
              <a:defRPr sz="2000">
                <a:solidFill>
                  <a:srgbClr val="0F172A"/>
                </a:solidFill>
              </a:defRPr>
            </a:pPr>
            <a:r>
              <a:t>PB--&gt;&gt;Pesquisador: Emite CAAE (Aprovação)</a:t>
            </a:r>
          </a:p>
          <a:p>
            <a:pPr>
              <a:defRPr sz="2000">
                <a:solidFill>
                  <a:srgbClr val="15803D"/>
                </a:solidFill>
              </a:defRPr>
            </a:pPr>
            <a:r>
              <a:t>[Importante] Pesquisador-&gt;&gt;Voluntario: Apresenta TCLE</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3. Diagrama do Fluxo Ético de Pesquisa (Mermaid) (Cont.)</a:t>
            </a:r>
          </a:p>
        </p:txBody>
      </p:sp>
      <p:sp>
        <p:nvSpPr>
          <p:cNvPr id="3" name="Content Placeholder 2"/>
          <p:cNvSpPr>
            <a:spLocks noGrp="1"/>
          </p:cNvSpPr>
          <p:nvPr>
            <p:ph idx="1"/>
          </p:nvPr>
        </p:nvSpPr>
        <p:spPr/>
        <p:txBody>
          <a:bodyPr/>
          <a:lstStyle/>
          <a:p/>
          <a:p>
            <a:pPr>
              <a:defRPr sz="2000">
                <a:solidFill>
                  <a:srgbClr val="15803D"/>
                </a:solidFill>
              </a:defRPr>
            </a:pPr>
            <a:r>
              <a:t>[Importante] Voluntario--&gt;&gt;Pesquisador: Assina Consentimento</a:t>
            </a:r>
          </a:p>
          <a:p>
            <a:pPr>
              <a:defRPr sz="2000">
                <a:solidFill>
                  <a:srgbClr val="6D28D9"/>
                </a:solidFill>
              </a:defRPr>
            </a:pPr>
            <a:r>
              <a:t>[Prova/Trabalho] Pesquisador-&gt;&gt;Voluntario: Executa Experimento (Testa Hardware/Coleta Dados)</a:t>
            </a:r>
          </a:p>
          <a:p>
            <a:pPr>
              <a:defRPr sz="2000">
                <a:solidFill>
                  <a:srgbClr val="0F172A"/>
                </a:solidFill>
              </a:defRPr>
            </a:pPr>
            <a:r>
              <a:t>Pesquisador-&gt;&gt;LLM: Solicita tradução/polimento do texto em inglês (Prompt)</a:t>
            </a:r>
          </a:p>
          <a:p>
            <a:pPr>
              <a:defRPr sz="2000">
                <a:solidFill>
                  <a:srgbClr val="15803D"/>
                </a:solidFill>
              </a:defRPr>
            </a:pPr>
            <a:r>
              <a:t>[Importante] LLM--&gt;&gt;Pesquisador: Retorna draft sugerido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3. Diagrama do Fluxo Ético de Pesquisa (Mermaid) (Cont.)</a:t>
            </a:r>
          </a:p>
        </p:txBody>
      </p:sp>
      <p:sp>
        <p:nvSpPr>
          <p:cNvPr id="3" name="Content Placeholder 2"/>
          <p:cNvSpPr>
            <a:spLocks noGrp="1"/>
          </p:cNvSpPr>
          <p:nvPr>
            <p:ph idx="1"/>
          </p:nvPr>
        </p:nvSpPr>
        <p:spPr/>
        <p:txBody>
          <a:bodyPr/>
          <a:lstStyle/>
          <a:p/>
          <a:p>
            <a:pPr>
              <a:defRPr sz="2000">
                <a:solidFill>
                  <a:srgbClr val="15803D"/>
                </a:solidFill>
              </a:defRPr>
            </a:pPr>
            <a:r>
              <a:t>[Importante] Pesquisador-&gt;&gt;Pesquisador: Valida técnica e factualmente o texto. Declara uso da IA no Manuscrito.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Estudo de Caso</a:t>
            </a:r>
          </a:p>
        </p:txBody>
      </p:sp>
      <p:sp>
        <p:nvSpPr>
          <p:cNvPr id="3" name="Content Placeholder 2"/>
          <p:cNvSpPr>
            <a:spLocks noGrp="1"/>
          </p:cNvSpPr>
          <p:nvPr>
            <p:ph idx="1"/>
          </p:nvPr>
        </p:nvSpPr>
        <p:spPr/>
        <p:txBody>
          <a:bodyPr/>
          <a:lstStyle/>
          <a:p/>
          <a:p>
            <a:pPr>
              <a:defRPr sz="2000">
                <a:solidFill>
                  <a:srgbClr val="15803D"/>
                </a:solidFill>
              </a:defRPr>
            </a:pPr>
            <a:r>
              <a:t>[Importante] **O Cenário:** Mariana, engenheira mecânica, construiu uma prótese biônica de mão no doutorado. O movimento depende da leitura de sensores EMG colocados no braço de amputados. Ela quer testar a prótese em 10 pacientes do hospital universitário local. O prazo da tese está apertado.</a:t>
            </a:r>
          </a:p>
          <a:p>
            <a:pPr>
              <a:defRPr sz="2000">
                <a:solidFill>
                  <a:srgbClr val="6D28D9"/>
                </a:solidFill>
              </a:defRPr>
            </a:pPr>
            <a:r>
              <a:t>[Prova/Trabalho] **Desastre Ético:** Mariana imprime a prótese, leva ao hospital, pede aos pacientes que testem e mede o grau de abertura da garra. Ela usa o ChatGPT para redigir o capítulo inteiro de Resultados e inventa duas citações para dar volume. Na defesa, a banca descobre que ela não submeteu o projeto à Plataforma Brasil e as citações não batem (o ChatGPT alucinou as publicações). Resultado: tese reprovada, possibilidade de cancelamento de matrícula e responder legalmente por intervenção médica sem CEP.</a:t>
            </a:r>
          </a:p>
          <a:p>
            <a:pPr>
              <a:defRPr sz="2000">
                <a:solidFill>
                  <a:srgbClr val="0F172A"/>
                </a:solidFill>
              </a:defRPr>
            </a:pPr>
            <a:r>
              <a:t>**Abordagem Ética e Correta:** Antes de encostar a prótese no primeiro paciente, Mariana redige um TCLE descrevendo os riscos (ex: alergia ao plástico, fadiga muscular). Submete via Plataforma Brasil, aguarda 45 dias, recebe o Parecer Consubstanciado de Aprovação. Testa os pacientes documentando tudo. Escreve a tese por conta própria. Usa o Gemini apenas para refinar a gramática do resumo final e declara, em uma seção "Declaração de Uso de IA", que: *"Durante a preparação deste trabalho, a autora utilizou o modelo Gemini Pro (Google) unicamente a fim de melhorar a fluidez da linguagem técnica da língua inglesa. A autora revisou e assume total responsabilidade por todo o conteúdo final."* A banca elogia o rigor e a transparência.</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Estudo de Caso</a:t>
            </a:r>
          </a:p>
        </p:txBody>
      </p:sp>
      <p:sp>
        <p:nvSpPr>
          <p:cNvPr id="3" name="Content Placeholder 2"/>
          <p:cNvSpPr>
            <a:spLocks noGrp="1"/>
          </p:cNvSpPr>
          <p:nvPr>
            <p:ph idx="1"/>
          </p:nvPr>
        </p:nvSpPr>
        <p:spPr/>
        <p:txBody>
          <a:bodyPr/>
          <a:lstStyle/>
          <a:p/>
          <a:p>
            <a:pPr>
              <a:defRPr sz="2000">
                <a:solidFill>
                  <a:srgbClr val="15803D"/>
                </a:solidFill>
              </a:defRPr>
            </a:pPr>
            <a:r>
              <a:t>[Importante] **O Cenário:** Mariana, engenheira mecânica, construiu uma prótese biônica de mão no doutorado. O movimento depende da leitura de sensores EMG colocados no braço de amputados. Ela quer testar a prótese em 10 pacientes do hospital universitário local. O prazo da tese está apertado.</a:t>
            </a:r>
          </a:p>
          <a:p>
            <a:pPr>
              <a:defRPr sz="2000">
                <a:solidFill>
                  <a:srgbClr val="6D28D9"/>
                </a:solidFill>
              </a:defRPr>
            </a:pPr>
            <a:r>
              <a:t>[Prova/Trabalho] **Desastre Ético:** Mariana imprime a prótese, leva ao hospital, pede aos pacientes que testem e mede o grau de abertura da garra. Ela usa o ChatGPT para redigir o capítulo inteiro de Resultados e inventa duas citações para dar volume. Na defesa, a banca descobre que ela não submeteu o projeto à Plataforma Brasil e as citações não batem (o ChatGPT alucinou as publicações). Resultado: tese reprovada, possibilidade de cancelamento de matrícula e responder legalmente por intervenção médica sem CEP.</a:t>
            </a:r>
          </a:p>
          <a:p>
            <a:pPr>
              <a:defRPr sz="2000">
                <a:solidFill>
                  <a:srgbClr val="0F172A"/>
                </a:solidFill>
              </a:defRPr>
            </a:pPr>
            <a:r>
              <a:t>**Abordagem Ética e Correta:** Antes de encostar a prótese no primeiro paciente, Mariana redige um TCLE descrevendo os riscos (ex: alergia ao plástico, fadiga muscular). Submete via Plataforma Brasil, aguarda 45 dias, recebe o Parecer Consubstanciado de Aprovação. Testa os pacientes documentando tudo. Escreve a tese por conta própria. Usa o Gemini apenas para refinar a gramática do resumo final e declara, em uma seção "Declaração de Uso de IA", que: *"Durante a preparação deste trabalho, a autora utilizou o modelo Gemini Pro (Google) unicamente a fim de melhorar a fluidez da linguagem técnica da língua inglesa. A autora revisou e assume total responsabilidade por todo o conteúdo final."* A banca elogia o rigor e a transparência.</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5. Exercício Prático</a:t>
            </a:r>
          </a:p>
        </p:txBody>
      </p:sp>
      <p:sp>
        <p:nvSpPr>
          <p:cNvPr id="3" name="Content Placeholder 2"/>
          <p:cNvSpPr>
            <a:spLocks noGrp="1"/>
          </p:cNvSpPr>
          <p:nvPr>
            <p:ph idx="1"/>
          </p:nvPr>
        </p:nvSpPr>
        <p:spPr/>
        <p:txBody>
          <a:bodyPr/>
          <a:lstStyle/>
          <a:p/>
          <a:p>
            <a:pPr>
              <a:defRPr sz="2000">
                <a:solidFill>
                  <a:srgbClr val="15803D"/>
                </a:solidFill>
              </a:defRPr>
            </a:pPr>
            <a:r>
              <a:t>[Importante] 1.  Analise seu projeto atual (seja TCC, PIBITI ou apenas uma ideia inicial). Ele requer submissão à Plataforma Brasil? Descreva os motivos do "Sim" ou do "Não".</a:t>
            </a:r>
          </a:p>
          <a:p>
            <a:pPr>
              <a:defRPr sz="2000">
                <a:solidFill>
                  <a:srgbClr val="6D28D9"/>
                </a:solidFill>
              </a:defRPr>
            </a:pPr>
            <a:r>
              <a:t>[Prova/Trabalho] 2.  Suponha que exija aprovação. Escreva 3 parágrafos simulando o texto principal de um TCLE, focado em explicar: os objetivos, os riscos (ainda que mínimos) e a garantia de sigilo ao leigo.</a:t>
            </a:r>
          </a:p>
          <a:p>
            <a:pPr>
              <a:defRPr sz="2000">
                <a:solidFill>
                  <a:srgbClr val="0F172A"/>
                </a:solidFill>
              </a:defRPr>
            </a:pPr>
            <a:r>
              <a:t>3.  Redija uma declaração curta, no padrão Qualis A, que seria inserida no final do seu artigo atestando as formas como você utilizou (ou optou por não utilizar) Inteligência Artificial no seu fluxo de trabalho acadêmico.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F766E"/>
      </a:hlink>
      <a:folHlink>
        <a:srgbClr val="0F76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