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firstSlideNum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mailto:pedroiff0@gmail.com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www.phrandrade.com" TargetMode="External"/><Relationship Id="rId4" Type="http://schemas.openxmlformats.org/officeDocument/2006/relationships/hyperlink" Target="mailto:pedroiff0@gmail.com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57200"/>
            <a:ext cx="2316480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1645920"/>
            <a:ext cx="1072865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09: RESULTADOS E APRESENTAÇÃO DE DADOS (IBGE VS ABNT)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Diferenciação técnica entre Tabelas (IBGE 1993) e Quadros (ABNT NBR 14724)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AULA 09: RESULTADOS E APRESENTAÇÃO DE DADOS (IBGE VS ABNT)</a:t>
            </a:r>
          </a:p>
          <a:p>
            <a:pPr>
              <a:defRPr sz="1800">
                <a:solidFill>
                  <a:srgbClr val="475569"/>
                </a:solidFill>
              </a:defRPr>
            </a:pPr>
            <a:r>
              <a:t>Diferenciação técnica entre Tabelas (IBGE 1993) e Quadros (ABNT NBR 14724)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Sumário da Apresentação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1. Introdução e Contexto: </a:t>
            </a:r>
            <a:r>
              <a:rPr sz="1400">
                <a:solidFill>
                  <a:srgbClr val="1E293B"/>
                </a:solidFill>
                <a:latin typeface="Arial"/>
              </a:rPr>
              <a:t>O conflito histórico de abundâncias químicas no disco local.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2. Desafios Espectroscópicos: </a:t>
            </a:r>
            <a:r>
              <a:rPr sz="1400">
                <a:solidFill>
                  <a:srgbClr val="1E293B"/>
                </a:solidFill>
                <a:latin typeface="Arial"/>
              </a:rPr>
              <a:t>A complexidade das atmosferas frias e bandas de TiO.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3. Metodologia Observacional e Teórica: </a:t>
            </a:r>
            <a:r>
              <a:rPr sz="1400">
                <a:solidFill>
                  <a:srgbClr val="1E293B"/>
                </a:solidFill>
                <a:latin typeface="Arial"/>
              </a:rPr>
              <a:t>Estudos benchmark 3D NLTE e modelos GCE (OMEGA+).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4. Reconciliação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Resultados de C, O, Na e Ni e o enigma persistente do Titânio.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5. Conexão Exoplanetária e Conclusões: </a:t>
            </a:r>
            <a:r>
              <a:rPr sz="1400">
                <a:solidFill>
                  <a:srgbClr val="1E293B"/>
                </a:solidFill>
                <a:latin typeface="Arial"/>
              </a:rPr>
              <a:t>Impacto na geofísica de planetas rochosos e a missão Ariel.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6. Referências Bibliográficas: </a:t>
            </a:r>
            <a:r>
              <a:rPr sz="1400">
                <a:solidFill>
                  <a:srgbClr val="1E293B"/>
                </a:solidFill>
                <a:latin typeface="Arial"/>
              </a:rPr>
              <a:t>Literatura fundamental utilizada no trabalho.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1. Introdução 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Anãs M na Galáxia: </a:t>
            </a:r>
            <a:r>
              <a:rPr sz="1400">
                <a:solidFill>
                  <a:srgbClr val="1E293B"/>
                </a:solidFill>
                <a:latin typeface="Arial"/>
              </a:rPr>
              <a:t>Constituem cerca de 70% da população estelar da Via Láctea, alvos principais para buscas de exoplanetas.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Preservação Química: </a:t>
            </a:r>
            <a:r>
              <a:rPr sz="1400">
                <a:solidFill>
                  <a:srgbClr val="1E293B"/>
                </a:solidFill>
                <a:latin typeface="Arial"/>
              </a:rPr>
              <a:t>Sua evolução ultra lenta preserva na fotosfera a assinatura intacta da nuvem molecular original.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51206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Problema Científico: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encontravam discrepâncias químicas severas entre anãs M e FGK no disco local.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2120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1400"/>
              </a:spcAft>
              <a:defRPr sz="2000" b="1">
                <a:solidFill>
                  <a:srgbClr val="00923F"/>
                </a:solidFill>
                <a:latin typeface="Arial"/>
              </a:defRPr>
            </a:pPr>
            <a:r>
              <a:t>A Controvérsia Química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Modelagem Física: </a:t>
            </a:r>
            <a:r>
              <a:rPr sz="1400">
                <a:solidFill>
                  <a:srgbClr val="1E293B"/>
                </a:solidFill>
                <a:latin typeface="Arial"/>
              </a:rPr>
              <a:t>Vieses sistemáticos de 1D LTE distorciam a análise espectral nas anãs M.</a:t>
            </a:r>
          </a:p>
          <a:p>
            <a:pPr>
              <a:spcAft>
                <a:spcPts val="1200"/>
              </a:spcAft>
            </a:pPr>
            <a:r>
              <a:rPr b="1" sz="1400">
                <a:solidFill>
                  <a:srgbClr val="00923F"/>
                </a:solidFill>
                <a:latin typeface="Arial"/>
              </a:rPr>
              <a:t>Questão-Chave: </a:t>
            </a:r>
            <a:r>
              <a:rPr sz="1400">
                <a:solidFill>
                  <a:srgbClr val="1E293B"/>
                </a:solidFill>
                <a:latin typeface="Arial"/>
              </a:rPr>
              <a:t>Isso indica enriquecimento anômalo ou falhas de espectroscopia?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2. Desafios Espectroscópicos em Estrelas Frias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Temperaturas Baixas (&lt; 4000 K): </a:t>
            </a:r>
            <a:r>
              <a:rPr sz="1400">
                <a:solidFill>
                  <a:srgbClr val="1E293B"/>
                </a:solidFill>
                <a:latin typeface="Arial"/>
              </a:rPr>
              <a:t>Permitem condensação molecular na fotosfera, saturando o espectro.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Bandas de TiO: </a:t>
            </a:r>
            <a:r>
              <a:rPr sz="1400">
                <a:solidFill>
                  <a:srgbClr val="1E293B"/>
                </a:solidFill>
                <a:latin typeface="Arial"/>
              </a:rPr>
              <a:t>Óxido de Titânio polui e bloqueia o contínuo óptico, cobrindo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de 1D LTE: </a:t>
            </a:r>
            <a:r>
              <a:rPr sz="1400">
                <a:solidFill>
                  <a:srgbClr val="1E293B"/>
                </a:solidFill>
                <a:latin typeface="Arial"/>
              </a:rPr>
              <a:t>Suposição clássica de LTE unidimensional distorce abundâncias obtidas de linhas de ressonância.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Importância de NLTE 3D: </a:t>
            </a:r>
            <a:r>
              <a:rPr sz="1400">
                <a:solidFill>
                  <a:srgbClr val="1E293B"/>
                </a:solidFill>
                <a:latin typeface="Arial"/>
              </a:rPr>
              <a:t>Modelos avançados são cruciais para isolar metalicidades e elementos refratários como Na e 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Amarsi et al. (2019), Bergemann et al. (2017)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3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3. Metodologia Observacional: Amostra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Amostra Benchmark: </a:t>
            </a:r>
            <a:r>
              <a:rPr sz="1400">
                <a:solidFill>
                  <a:srgbClr val="1E293B"/>
                </a:solidFill>
                <a:latin typeface="Arial"/>
              </a:rPr>
              <a:t>47 estrelas anãs M selecionadas dos catálogos APOGEE, CARMENES e Subaru/IRD.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Homogeneidade: </a:t>
            </a:r>
            <a:r>
              <a:rPr sz="1400">
                <a:solidFill>
                  <a:srgbClr val="1E293B"/>
                </a:solidFill>
                <a:latin typeface="Arial"/>
              </a:rPr>
              <a:t>Uso exclusivo de atmosferas modelo MARCS para calibração espectral.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FGK de Referência: </a:t>
            </a:r>
            <a:r>
              <a:rPr sz="1400">
                <a:solidFill>
                  <a:srgbClr val="1E293B"/>
                </a:solidFill>
                <a:latin typeface="Arial"/>
              </a:rPr>
              <a:t>Dados compilados e corrigidos para efeitos tridimensionais Não-LTE no disco 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Faixa de Metalicidade: </a:t>
            </a:r>
            <a:r>
              <a:rPr sz="1400">
                <a:solidFill>
                  <a:srgbClr val="1E293B"/>
                </a:solidFill>
                <a:latin typeface="Arial"/>
              </a:rPr>
              <a:t>Foco no disco fino galáctico cobrindo -0.5 &lt;= [Fe/H] &lt;= +0.4.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Gustafsson et al. (2008), Trueman et al. (2026)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Espectros / Diagrama HR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4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4. Metodologia Teórica: Modelos GCE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Código OMEGA+: </a:t>
            </a:r>
            <a:r>
              <a:rPr sz="1400">
                <a:solidFill>
                  <a:srgbClr val="1E293B"/>
                </a:solidFill>
                <a:latin typeface="Arial"/>
              </a:rPr>
              <a:t>Simulações de enriquecimento químico baseadas em modelo de duas zonas (galáxia e meio circumgaláctico).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Rendimentos de Nucleossíntese: </a:t>
            </a:r>
            <a:r>
              <a:rPr sz="1400">
                <a:solidFill>
                  <a:srgbClr val="1E293B"/>
                </a:solidFill>
                <a:latin typeface="Arial"/>
              </a:rPr>
              <a:t>Modelos comparativos de supernovas core-collapse (CCSN) de Nomoto (2013) e Limongi &amp; Chieffi (2018).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Supernovas Tipo Ia: </a:t>
            </a:r>
            <a:r>
              <a:rPr sz="1400">
                <a:solidFill>
                  <a:srgbClr val="1E293B"/>
                </a:solidFill>
                <a:latin typeface="Arial"/>
              </a:rPr>
              <a:t>Delay-Time Distribution (DTD) calibrado com platô de 1 Gyr para ajuste dos elementos do grupo do ferro.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Dispersão no Disco: </a:t>
            </a:r>
            <a:r>
              <a:rPr sz="1400">
                <a:solidFill>
                  <a:srgbClr val="1E293B"/>
                </a:solidFill>
                <a:latin typeface="Arial"/>
              </a:rPr>
              <a:t>Simulação de 6 trilhas independentes mapeando o espalhamento de metalicidade solar local.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Nomoto et al. (2013), Limongi &amp; Chieffi (2018)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5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5. Resultados: Reconciliação Química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Slopes Equivalentes: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[C/H], [O/H], [Na/Fe] e [Ni/Fe] nas anãs M e FGK apresentam a mesma inclinação.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Ajuste por Regressão ODR: </a:t>
            </a:r>
            <a:r>
              <a:rPr sz="1400">
                <a:solidFill>
                  <a:srgbClr val="1E293B"/>
                </a:solidFill>
                <a:latin typeface="Arial"/>
              </a:rPr>
              <a:t>Sobreposição completa de 1-sigma nas bandas de confiança estatística.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Resolução de Divergências: </a:t>
            </a:r>
            <a:r>
              <a:rPr sz="1400">
                <a:solidFill>
                  <a:srgbClr val="1E293B"/>
                </a:solidFill>
                <a:latin typeface="Arial"/>
              </a:rPr>
              <a:t>Estudos anteriores divergiam porque não corrigiam os dados de FGK com modelos 3D NLTE.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53035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Sucesso do OMEGA+: </a:t>
            </a:r>
            <a:r>
              <a:rPr sz="1400">
                <a:solidFill>
                  <a:srgbClr val="1E293B"/>
                </a:solidFill>
                <a:latin typeface="Arial"/>
              </a:rPr>
              <a:t>Excelente acordo entre previsões dos modelos GCE e observações estelares.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73736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92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00923F"/>
                </a:solidFill>
                <a:latin typeface="Arial"/>
              </a:defRPr>
            </a:pPr>
            <a:br/>
            <a:br/>
            <a:br/>
            <a:br/>
            <a:r>
              <a:t>[ Espaço Reservado para Figura: Regressão ODR / Abundâncias 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6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6. A Exceção Singular do Titânio ([Ti/H])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Incompatibilidade Estatística (p ~ 0.00): </a:t>
            </a:r>
            <a:r>
              <a:rPr sz="1400">
                <a:solidFill>
                  <a:srgbClr val="1E293B"/>
                </a:solidFill>
                <a:latin typeface="Arial"/>
              </a:rPr>
              <a:t>O slope obtido para [Ti/H] em anãs M diverge severamente em relação às estrelas FGK.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Gargalo de Condensação: </a:t>
            </a:r>
            <a:r>
              <a:rPr sz="1400">
                <a:solidFill>
                  <a:srgbClr val="1E293B"/>
                </a:solidFill>
                <a:latin typeface="Arial"/>
              </a:rPr>
              <a:t>Em atmosferas frias de anãs M, o Ti é incorporado na formação de TiO, reduzindo as linhas atômicas livres.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Vieses em Espectros: </a:t>
            </a:r>
            <a:r>
              <a:rPr sz="1400">
                <a:solidFill>
                  <a:srgbClr val="1E293B"/>
                </a:solidFill>
                <a:latin typeface="Arial"/>
              </a:rPr>
              <a:t>Uso de linhas de Ti I atômico sem devidas correções de Não-LTE causa subestimação sistemática de abundâncias.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Causa Identificada: </a:t>
            </a:r>
            <a:r>
              <a:rPr sz="1400">
                <a:solidFill>
                  <a:srgbClr val="1E293B"/>
                </a:solidFill>
                <a:latin typeface="Arial"/>
              </a:rPr>
              <a:t>A discrepância é de natureza metodológica observacional, e não reflete uma anomalia química real galáctica.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7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7. Implicações na Caracterização Exoplanetária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Composição do Disco: </a:t>
            </a:r>
            <a:r>
              <a:rPr sz="1400">
                <a:solidFill>
                  <a:srgbClr val="1E293B"/>
                </a:solidFill>
                <a:latin typeface="Arial"/>
              </a:rPr>
              <a:t>As abundâncias estelares regulam as frações de refratários e voláteis no disco protoestelar.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Geofísica de Mundos Rochosos: </a:t>
            </a:r>
            <a:r>
              <a:rPr sz="1400">
                <a:solidFill>
                  <a:srgbClr val="1E293B"/>
                </a:solidFill>
                <a:latin typeface="Arial"/>
              </a:rPr>
              <a:t>Razões chaves como [Mg/Si] e [C/O] determinam mineralogia do manto e tamanho de núcleos de ferro planetários.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Parâmetro Ariel: </a:t>
            </a:r>
            <a:r>
              <a:rPr sz="1400">
                <a:solidFill>
                  <a:srgbClr val="1E293B"/>
                </a:solidFill>
                <a:latin typeface="Arial"/>
              </a:rPr>
              <a:t>A missão espacial Ariel usará a composição química estelar para estimar a geodinâmica e a atmosfera dos exoplanetas.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GCE como Benchmark: </a:t>
            </a:r>
            <a:r>
              <a:rPr sz="1400">
                <a:solidFill>
                  <a:srgbClr val="1E293B"/>
                </a:solidFill>
                <a:latin typeface="Arial"/>
              </a:rPr>
              <a:t>A consistência valida o uso de modelos galácticos para normalizar composições em surveys exoplanetários amplos.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000" i="1">
                <a:solidFill>
                  <a:srgbClr val="1E293B"/>
                </a:solidFill>
                <a:latin typeface="Arial"/>
              </a:defRPr>
            </a:pPr>
            <a:r>
              <a:t>Ref: Ariel White Paper (2021)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4" name="TextBox 13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8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8. Conclusões e Perspectivas Futuras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Coerência Química: </a:t>
            </a:r>
            <a:r>
              <a:rPr sz="1400">
                <a:solidFill>
                  <a:srgbClr val="1E293B"/>
                </a:solidFill>
                <a:latin typeface="Arial"/>
              </a:rPr>
              <a:t>Anãs M e estrelas FGK na vizinhança solar compartilham da mesma história de enriquecimento químico galáctico.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Superação de Vieses: </a:t>
            </a:r>
            <a:r>
              <a:rPr sz="1400">
                <a:solidFill>
                  <a:srgbClr val="1E293B"/>
                </a:solidFill>
                <a:latin typeface="Arial"/>
              </a:rPr>
              <a:t>Modelos tridimensionais fora de LTE são cruciais para reestabelecer concordâncias espectroscópicas.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Calibração Teórica: </a:t>
            </a:r>
            <a:r>
              <a:rPr sz="1400">
                <a:solidFill>
                  <a:srgbClr val="1E293B"/>
                </a:solidFill>
                <a:latin typeface="Arial"/>
              </a:rPr>
              <a:t>Códigos de evolução química como o OMEGA+ servem como verificação independente de discrepâncias espectrais.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Apoio 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A determinação refinada das abundâncias estelares garante inferências precisas sobre interiores de exoplanetas.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9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9. Síntese do Conteúdo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Modelagem 3D NLTE: </a:t>
            </a:r>
            <a:r>
              <a:rPr sz="1400">
                <a:solidFill>
                  <a:srgbClr val="1E293B"/>
                </a:solidFill>
                <a:latin typeface="Arial"/>
              </a:rPr>
              <a:t>Fundamental para eliminar discrepâncias artificiais nas anãs 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Harmonia Química Local: </a:t>
            </a:r>
            <a:r>
              <a:rPr sz="1400">
                <a:solidFill>
                  <a:srgbClr val="1E293B"/>
                </a:solidFill>
                <a:latin typeface="Arial"/>
              </a:rPr>
              <a:t>Abundâncias de C, O, Na e Ni no disco local são homogêneas.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5760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Desvio Metodológico: </a:t>
            </a:r>
            <a:r>
              <a:rPr sz="1400">
                <a:solidFill>
                  <a:srgbClr val="1E293B"/>
                </a:solidFill>
                <a:latin typeface="Arial"/>
              </a:rPr>
              <a:t>O desvio de [Ti/H] é físico-químico (TiO e LTE), não nucleossintético.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1772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400" b="1">
                <a:solidFill>
                  <a:srgbClr val="00923F"/>
                </a:solidFill>
                <a:latin typeface="Arial"/>
              </a:rPr>
              <a:t>Base para Exoplanetas: </a:t>
            </a:r>
            <a:r>
              <a:rPr sz="1400">
                <a:solidFill>
                  <a:srgbClr val="1E293B"/>
                </a:solidFill>
                <a:latin typeface="Arial"/>
              </a:rPr>
              <a:t>Validação dos modelos GCE como referência para caracterizar outros mundos.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3" name="TextBox 12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10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9436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f_bji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"/>
            <a:ext cx="1170432" cy="43891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88175" y="182880"/>
            <a:ext cx="4572000" cy="3200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200">
                <a:solidFill>
                  <a:srgbClr val="1E293B"/>
                </a:solidFill>
                <a:latin typeface="Arial"/>
              </a:defRPr>
            </a:pPr>
            <a:r>
              <a:t>Astrofísica Geral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72865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0923F"/>
                </a:solidFill>
                <a:latin typeface="Arial"/>
              </a:defRPr>
            </a:pPr>
            <a:r>
              <a:t>Referências Bibliográficas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Trueman, T. C. L., et al. 2026, </a:t>
            </a:r>
            <a:r>
              <a:rPr sz="1300">
                <a:solidFill>
                  <a:srgbClr val="1E293B"/>
                </a:solidFill>
                <a:latin typeface="Arial"/>
              </a:rPr>
              <a:t>ApJ, 1024, L15 (Paper base do MWBR)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Amarsi, A. M., et al. 2019, </a:t>
            </a:r>
            <a:r>
              <a:rPr sz="1300">
                <a:solidFill>
                  <a:srgbClr val="1E293B"/>
                </a:solidFill>
                <a:latin typeface="Arial"/>
              </a:rPr>
              <a:t>A&amp;A, 624, A111 (Correções Não-LTE 3D para estrelas FGK)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Bergemann, M., et al. 2017, </a:t>
            </a:r>
            <a:r>
              <a:rPr sz="1300">
                <a:solidFill>
                  <a:srgbClr val="1E293B"/>
                </a:solidFill>
                <a:latin typeface="Arial"/>
              </a:rPr>
              <a:t>MNRAS, 471, 331 (Modelos de atmosferas estelares em NLTE)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947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Nomoto, K., et al. 2013, </a:t>
            </a:r>
            <a:r>
              <a:rPr sz="1300">
                <a:solidFill>
                  <a:srgbClr val="1E293B"/>
                </a:solidFill>
                <a:latin typeface="Arial"/>
              </a:rPr>
              <a:t>ARA&amp;A, 51, 457 (Rendimentos químicos galácticos para CCSN)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80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Limongi, M., &amp; Chieffi, A. 2018, </a:t>
            </a:r>
            <a:r>
              <a:rPr sz="1300">
                <a:solidFill>
                  <a:srgbClr val="1E293B"/>
                </a:solidFill>
                <a:latin typeface="Arial"/>
              </a:rPr>
              <a:t>ApJS, 237, 13 (Nucleossíntese em estrelas massivas rotativas)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1663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1300" b="1">
                <a:solidFill>
                  <a:srgbClr val="00923F"/>
                </a:solidFill>
                <a:latin typeface="Arial"/>
              </a:rPr>
              <a:t>• Gustafsson, B., et al. 2008, </a:t>
            </a:r>
            <a:r>
              <a:rPr sz="1300">
                <a:solidFill>
                  <a:srgbClr val="1E293B"/>
                </a:solidFill>
                <a:latin typeface="Arial"/>
              </a:rPr>
              <a:t>A&amp;A, 486, 951 (Grade de atmosferas modelo MARCS)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3"/>
              </a:rPr>
              <a:t>Pedro H. R. de Andrade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15" name="TextBox 14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11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6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7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8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9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5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51" dur="500"/>
                            <p:tgtEl>
                              <p:spTgt spid="10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52" dur="1" fill="hold"/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6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61" dur="500"/>
                            <p:tgtEl>
                              <p:spTgt spid="11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62" dur="1" fill="hold"/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94360"/>
            <a:ext cx="3749039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3600" b="1">
                <a:solidFill>
                  <a:srgbClr val="00923F"/>
                </a:solidFill>
                <a:latin typeface="Arial"/>
              </a:defRPr>
            </a:pPr>
            <a:r>
              <a:t>Obrigado!</a:t>
            </a:r>
          </a:p>
          <a:p>
            <a:pPr>
              <a:defRPr sz="3200" b="1">
                <a:solidFill>
                  <a:srgbClr val="1E293B"/>
                </a:solidFill>
                <a:latin typeface="Arial"/>
              </a:defRPr>
            </a:pPr>
            <a:r>
              <a:t>Dúvidas?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852928"/>
            <a:ext cx="49377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2200" b="1">
                <a:solidFill>
                  <a:srgbClr val="1E293B"/>
                </a:solidFill>
                <a:latin typeface="Arial"/>
              </a:defRPr>
            </a:pPr>
            <a:r>
              <a:t>Pedro H. R. de Andrade</a:t>
            </a:r>
          </a:p>
          <a:p>
            <a:pPr>
              <a:defRPr sz="1600">
                <a:solidFill>
                  <a:srgbClr val="00923F"/>
                </a:solidFill>
                <a:latin typeface="Arial"/>
              </a:defRPr>
            </a:pPr>
            <a:r>
              <a:t>E-mail: pedroiff0@gmail.com</a:t>
            </a:r>
          </a:p>
        </p:txBody>
      </p:sp>
      <p:pic>
        <p:nvPicPr>
          <p:cNvPr id="4" name="Picture 3" descr="cosmic_qrcode_transparente_p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704" y="0"/>
            <a:ext cx="6583680" cy="6583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18504" y="6126480"/>
            <a:ext cx="521208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400" i="1">
                <a:solidFill>
                  <a:srgbClr val="00923F"/>
                </a:solidFill>
                <a:latin typeface="Arial"/>
                <a:hlinkClick r:id="rId3"/>
              </a:rPr>
              <a:t>www.phrandrade.com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9144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900">
                <a:solidFill>
                  <a:srgbClr val="1E293B"/>
                </a:solidFill>
                <a:latin typeface="Arial"/>
                <a:hlinkClick r:id="rId4"/>
              </a:rPr>
              <a:t>Pedro H. R. de Andrade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09847" y="6620256"/>
            <a:ext cx="45720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ctr"/>
            <a:r>
              <a:rPr sz="900">
                <a:solidFill>
                  <a:srgbClr val="1E293B"/>
                </a:solidFill>
                <a:latin typeface="Arial"/>
              </a:rPr>
              <a:t>IFF Bom Jesus do Itabapoana</a:t>
            </a:r>
          </a:p>
        </p:txBody>
      </p:sp>
      <p:sp>
        <p:nvSpPr>
          <p:cNvPr id="9" name="TextBox 8"/>
          <p:cNvSpPr txBox="1"/>
          <p:nvPr>
            <p:ph type="sldNum" sz="quarter"/>
          </p:nvPr>
        </p:nvSpPr>
        <p:spPr>
          <a:xfrm>
            <a:off x="7802575" y="6620256"/>
            <a:ext cx="3657600" cy="1828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/>
            <a:fld id="{53AF88E2-2E5C-47E5-9D67-7D15B9A608F7}" type="slidenum">
              <a:rPr sz="900" face="Arial">
                <a:solidFill>
                  <a:srgbClr val="1E293B"/>
                </a:solidFill>
              </a:rPr>
              <a:t>12</a:t>
            </a:fld>
            <a:r>
              <a:rPr sz="900" face="Arial">
                <a:solidFill>
                  <a:srgbClr val="1E293B"/>
                </a:solidFill>
              </a:rPr>
              <a:t> / 14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0" dur="indefinite" nodeType="tmRoot">
          <p:childTnLst>
            <p:seq concurrent="1" nextAc="nextTemplate" type="sldAnimMeth">
              <p:cTn id="1" dur="indefinite" nodeType="mainSeq">
                <p:childTnLst>
                  <p:par>
                    <p:cTn id="1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11" dur="500"/>
                            <p:tgtEl>
                              <p:spTgt spid="2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12" dur="1" fill="hold"/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2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21" dur="500"/>
                            <p:tgtEl>
                              <p:spTgt spid="3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22" dur="1" fill="hold"/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3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31" dur="500"/>
                            <p:tgtEl>
                              <p:spTgt spid="5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32" dur="1" fill="hold"/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  <p:par>
                    <p:cTn id="40" fill="hold" nodeType="clickEffect">
                      <p:stCondLst>
                        <p:cond evt="onBegin" delay="0"/>
                      </p:stCondLst>
                      <p:childTnLst>
                        <p:anim dur="500" calcmode="linear" valueType="num">
                          <p:cBhvr>
                            <p:cTn id="41" dur="500"/>
                            <p:tgtEl>
                              <p:spTgt spid="4"/>
                            </p:tgtEl>
                            <p:attrNameLst>
                              <p:attrName>style.opacity</p:attrName>
                            </p:attrNameLst>
                          </p:cBhvr>
                          <p:tavLst>
                            <p:tav tm="0">
                              <p:val>
                                <p:numVal val="0"/>
                              </p:val>
                            </p:tav>
                            <p:tav tm="100000">
                              <p:val>
                                <p:numVal val="1"/>
                              </p:val>
                            </p:tav>
                          </p:tavLst>
                        </p:anim>
                        <p:set>
                          <p:cBhvr>
                            <p:cTn id="42" dur="1" fill="hold"/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smic_bg_original_cropp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"/>
            <a:ext cx="12191695" cy="6857828"/>
          </a:xfrm>
          <a:prstGeom prst="rect">
            <a:avLst/>
          </a:prstGeom>
        </p:spPr>
      </p:pic>
      <p:pic>
        <p:nvPicPr>
          <p:cNvPr id="3" name="Picture 2" descr="qrcode_transparen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2011680" cy="2011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F766E"/>
      </a:hlink>
      <a:folHlink>
        <a:srgbClr val="0F766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