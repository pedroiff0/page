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firstSlideNum="0">
  <p:sldMasterIdLst>
    <p:sldMasterId id="2147483648" r:id="rId1"/>
  </p:sldMasterIdLst>
  <p:sldIdLst>
    <p:sldId id="256" r:id="rId7"/>
    <p:sldId id="269" r:id="rId9"/>
    <p:sldId id="270" r:id="rId10"/>
    <p:sldId id="271" r:id="rId11"/>
    <p:sldId id="272" r:id="rId12"/>
    <p:sldId id="273" r:id="rId13"/>
    <p:sldId id="274" r:id="rId14"/>
    <p:sldId id="275" r:id="rId15"/>
    <p:sldId id="276" r:id="rId16"/>
    <p:sldId id="277" r:id="rId17"/>
    <p:sldId id="278" r:id="rId18"/>
    <p:sldId id="279" r:id="rId8"/>
    <p:sldId id="280" r:id="rId20"/>
    <p:sldId id="281" r:id="rId21"/>
    <p:sldId id="282" r:id="rId22"/>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13.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ff_bji_light.png"/>
          <p:cNvPicPr>
            <a:picLocks noChangeAspect="1"/>
          </p:cNvPicPr>
          <p:nvPr/>
        </p:nvPicPr>
        <p:blipFill>
          <a:blip r:embed="rId2"/>
          <a:stretch>
            <a:fillRect/>
          </a:stretch>
        </p:blipFill>
        <p:spPr>
          <a:xfrm>
            <a:off x="731520" y="457200"/>
            <a:ext cx="2316480" cy="868680"/>
          </a:xfrm>
          <a:prstGeom prst="rect">
            <a:avLst/>
          </a:prstGeom>
        </p:spPr>
      </p:pic>
      <p:sp>
        <p:nvSpPr>
          <p:cNvPr id="3" name="TextBox 2"/>
          <p:cNvSpPr txBox="1"/>
          <p:nvPr/>
        </p:nvSpPr>
        <p:spPr>
          <a:xfrm>
            <a:off x="731520" y="1645920"/>
            <a:ext cx="10728655" cy="2286000"/>
          </a:xfrm>
          <a:prstGeom prst="rect">
            <a:avLst/>
          </a:prstGeom>
          <a:noFill/>
        </p:spPr>
        <p:txBody>
          <a:bodyPr wrap="square">
            <a:spAutoFit/>
          </a:bodyPr>
          <a:lstStyle/>
          <a:p>
            <a:pPr>
              <a:defRPr sz="2600" b="1">
                <a:solidFill>
                  <a:srgbClr val="B45309"/>
                </a:solidFill>
                <a:latin typeface="Arial"/>
              </a:defRPr>
            </a:pPr>
            <a:r>
              <a:t>AULA 02: OBJETIVOS, TAXONOMIA DE BLOOM E JUSTIFICATIVA</a:t>
            </a:r>
          </a:p>
          <a:p>
            <a:pPr>
              <a:defRPr sz="1600">
                <a:solidFill>
                  <a:srgbClr val="15803D"/>
                </a:solidFill>
              </a:defRPr>
            </a:pPr>
            <a:r>
              <a:t>Verbos cognitivos de Bloom e estruturação de justificativa social, acadêmica e técnica\nCurso: LaTeX e Escrita Acadêmica — Normas ABNT</a:t>
            </a:r>
          </a:p>
        </p:txBody>
      </p:sp>
      <p:sp>
        <p:nvSpPr>
          <p:cNvPr id="4" name="TextBox 3"/>
          <p:cNvSpPr txBox="1"/>
          <p:nvPr/>
        </p:nvSpPr>
        <p:spPr>
          <a:xfrm>
            <a:off x="731520" y="4389120"/>
            <a:ext cx="10728655" cy="1645920"/>
          </a:xfrm>
          <a:prstGeom prst="rect">
            <a:avLst/>
          </a:prstGeom>
          <a:noFill/>
        </p:spPr>
        <p:txBody>
          <a:bodyPr wrap="square">
            <a:spAutoFit/>
          </a:bodyPr>
          <a:lstStyle/>
          <a:p>
            <a:pPr>
              <a:defRPr sz="1400" b="1">
                <a:solidFill>
                  <a:srgbClr val="B45309"/>
                </a:solidFill>
                <a:latin typeface="Arial"/>
              </a:defRPr>
            </a:pPr>
            <a:r>
              <a:t>Pedro Henrique Rocha de Andrade</a:t>
            </a:r>
          </a:p>
          <a:p>
            <a:pPr>
              <a:defRPr sz="1200">
                <a:solidFill>
                  <a:srgbClr val="6D28D9"/>
                </a:solidFill>
              </a:defRPr>
            </a:pPr>
            <a:r>
              <a:t>Instituto Federal Fluminense (IFF) — Campus Bom Jesus do Itabapoana\nCurso: LaTeX e Escrita Acadêmica</a:t>
            </a:r>
          </a:p>
        </p:txBody>
      </p:sp>
      <p:pic>
        <p:nvPicPr>
          <p:cNvPr id="5" name="Picture 4" descr="qrcode_transparente.png"/>
          <p:cNvPicPr>
            <a:picLocks noChangeAspect="1"/>
          </p:cNvPicPr>
          <p:nvPr/>
        </p:nvPicPr>
        <p:blipFill>
          <a:blip r:embed="rId3"/>
          <a:stretch>
            <a:fillRect/>
          </a:stretch>
        </p:blipFill>
        <p:spPr>
          <a:xfrm>
            <a:off x="9601200" y="1371600"/>
            <a:ext cx="1828800" cy="1828800"/>
          </a:xfrm>
          <a:prstGeom prst="rect">
            <a:avLst/>
          </a:prstGeom>
        </p:spPr>
      </p:pic>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1. A Arquitetura Lógica dos Objetivos na Pesquisa</a:t>
            </a:r>
          </a:p>
        </p:txBody>
      </p:sp>
      <p:sp>
        <p:nvSpPr>
          <p:cNvPr id="3" name="Content Placeholder 2"/>
          <p:cNvSpPr>
            <a:spLocks noGrp="1"/>
          </p:cNvSpPr>
          <p:nvPr>
            <p:ph idx="1"/>
          </p:nvPr>
        </p:nvSpPr>
        <p:spPr/>
        <p:txBody>
          <a:bodyPr/>
          <a:lstStyle/>
          <a:p/>
          <a:p>
            <a:pPr>
              <a:defRPr sz="2000">
                <a:solidFill>
                  <a:srgbClr val="15803D"/>
                </a:solidFill>
              </a:defRPr>
            </a:pPr>
            <a:r>
              <a:t>[Importante] Uma vez consolidada a pergunta de pesquisa e as hipóteses norteadoras, o autor necessita de uma bússola inequívoca da direção exata da ação interventora do estudo. Esta direção materializa-se nos objetivos da pesquisa acadêmica. Sem eles, o delineamento metodológico perde ancoragem, resultando invariavelmente em investigações perdidas e desfocadas. Os objetivos definem categoricamente "o que", "com que fim" e "qual o escopo" do labor científico prolatado.</a:t>
            </a:r>
          </a:p>
          <a:p>
            <a:pPr>
              <a:defRPr sz="2000">
                <a:solidFill>
                  <a:srgbClr val="6D28D9"/>
                </a:solidFill>
              </a:defRPr>
            </a:pPr>
            <a:r>
              <a:t>[Prova/Trabalho] A estrutura é dicotômica na tradição metodológica:</a:t>
            </a:r>
          </a:p>
          <a:p>
            <a:pPr>
              <a:defRPr sz="2000">
                <a:solidFill>
                  <a:srgbClr val="0F172A"/>
                </a:solidFill>
              </a:defRPr>
            </a:pPr>
            <a:r>
              <a:t>**Objetivo Geral:** Trata-se da enunciação macro da finalidade máxima do estudo, uma resposta projetada e assertiva que guarda correlação direta e biunívoca com o problema de pesquisa.</a:t>
            </a:r>
          </a:p>
          <a:p>
            <a:pPr>
              <a:defRPr sz="2000">
                <a:solidFill>
                  <a:srgbClr val="15803D"/>
                </a:solidFill>
              </a:defRPr>
            </a:pPr>
            <a:r>
              <a:t>[Importante] **Objetivos Específicos:** Representam o desdobramento microanalítico do Objetivo Geral. São metas intermediárias, parciais e cumulativas, organizadas frequentemente em sequência cronológica e de complexidade analítica ascendente, as quais, somadas integralmente, propiciam e garantem o atingimento do alvo principal. Não se configuram como o detalhamento raso das metodologias — diferencie categoricamente um objetivo (meta finalística) de uma técnica metodológica (meio de alcance).</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2. A Precisão Lexical: A Taxonomia Revisada de Bloom</a:t>
            </a:r>
          </a:p>
        </p:txBody>
      </p:sp>
      <p:sp>
        <p:nvSpPr>
          <p:cNvPr id="3" name="Content Placeholder 2"/>
          <p:cNvSpPr>
            <a:spLocks noGrp="1"/>
          </p:cNvSpPr>
          <p:nvPr>
            <p:ph idx="1"/>
          </p:nvPr>
        </p:nvSpPr>
        <p:spPr/>
        <p:txBody>
          <a:bodyPr/>
          <a:lstStyle/>
          <a:p/>
          <a:p>
            <a:pPr>
              <a:defRPr sz="2000">
                <a:solidFill>
                  <a:srgbClr val="15803D"/>
                </a:solidFill>
              </a:defRPr>
            </a:pPr>
            <a:r>
              <a:t>[Importante] Para redigir objetivos com a inexorável clareza reclamada pelo rigor científico e educacional, o uso do senso comum na escolha vocabular é proscrito. É mandatório o amparo na **Taxonomia de Bloom**, uma estrutura de classificação hierárquica robusta de objetivos educacionais e cognitivos em domínios de aprendizagem e ação analítica.</a:t>
            </a:r>
          </a:p>
          <a:p>
            <a:pPr>
              <a:defRPr sz="2000">
                <a:solidFill>
                  <a:srgbClr val="6D28D9"/>
                </a:solidFill>
              </a:defRPr>
            </a:pPr>
            <a:r>
              <a:t>[Prova/Trabalho] Na redação de dissertações e teses (que demandam, por força de lei acadêmica, níveis de originalidade, avaliação e criação substanciais), os verbos escolhidos no infinitivo devem se situar invariavelmente nos extratos superiores da hierarquia cognitiva ou no domínio analítico estrito.</a:t>
            </a:r>
          </a:p>
          <a:p>
            <a:pPr>
              <a:defRPr sz="2000">
                <a:solidFill>
                  <a:srgbClr val="2563EB"/>
                </a:solidFill>
              </a:defRPr>
            </a:pPr>
            <a:r>
              <a:t>[Vale Lembrar] O Vetado Uso de Verbos Ambíguos</a:t>
            </a:r>
          </a:p>
          <a:p>
            <a:pPr>
              <a:defRPr sz="2000">
                <a:solidFill>
                  <a:srgbClr val="15803D"/>
                </a:solidFill>
              </a:defRPr>
            </a:pPr>
            <a:r>
              <a:t>[Importante] A subjetividade cognitiva dificulta brutalmente a validação de um projeto por uma banca examinadora. Sob nenhuma circunstância utilize verbos cuja aferição empírica seja turva ou inatingível objetivamente:</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2. A Precisão Lexical: A Taxonomia Revisada de Bloom (Cont.)</a:t>
            </a:r>
          </a:p>
        </p:txBody>
      </p:sp>
      <p:sp>
        <p:nvSpPr>
          <p:cNvPr id="3" name="Content Placeholder 2"/>
          <p:cNvSpPr>
            <a:spLocks noGrp="1"/>
          </p:cNvSpPr>
          <p:nvPr>
            <p:ph idx="1"/>
          </p:nvPr>
        </p:nvSpPr>
        <p:spPr/>
        <p:txBody>
          <a:bodyPr/>
          <a:lstStyle/>
          <a:p/>
          <a:p>
            <a:pPr>
              <a:defRPr sz="2000">
                <a:solidFill>
                  <a:srgbClr val="15803D"/>
                </a:solidFill>
              </a:defRPr>
            </a:pPr>
            <a:r>
              <a:t>[Importante] **EVITE VEEMENTEMENTE:** _Compreender, saber, entender, conhecer, apreciar, internalizar, estar consciente, aprofundar, captar_.</a:t>
            </a:r>
          </a:p>
          <a:p>
            <a:pPr>
              <a:defRPr sz="2000">
                <a:solidFill>
                  <a:srgbClr val="2563EB"/>
                </a:solidFill>
              </a:defRPr>
            </a:pPr>
            <a:r>
              <a:t>[Vale Lembrar] O Correto Uso de Verbos Analíticos (Exemplos das Categorias de Bloom):</a:t>
            </a:r>
          </a:p>
          <a:p>
            <a:pPr>
              <a:defRPr sz="2000">
                <a:solidFill>
                  <a:srgbClr val="0F172A"/>
                </a:solidFill>
              </a:defRPr>
            </a:pPr>
            <a:r>
              <a:t>**Aplicação e Análise:** _Analisar, classificar, calcular, correlacionar, demonstrar, mapear, examinar, comparar, investigar_.</a:t>
            </a:r>
          </a:p>
          <a:p>
            <a:pPr>
              <a:defRPr sz="2000">
                <a:solidFill>
                  <a:srgbClr val="15803D"/>
                </a:solidFill>
              </a:defRPr>
            </a:pPr>
            <a:r>
              <a:t>[Importante] **Avaliação e Síntese:** _Sintetizar, argumentar, criticar, avaliar, validar, medir, julgar, testar_.</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2. A Precisão Lexical: A Taxonomia Revisada de Bloom (Cont.)</a:t>
            </a:r>
          </a:p>
        </p:txBody>
      </p:sp>
      <p:sp>
        <p:nvSpPr>
          <p:cNvPr id="3" name="Content Placeholder 2"/>
          <p:cNvSpPr>
            <a:spLocks noGrp="1"/>
          </p:cNvSpPr>
          <p:nvPr>
            <p:ph idx="1"/>
          </p:nvPr>
        </p:nvSpPr>
        <p:spPr/>
        <p:txBody>
          <a:bodyPr/>
          <a:lstStyle/>
          <a:p/>
          <a:p>
            <a:pPr>
              <a:defRPr sz="2000">
                <a:solidFill>
                  <a:srgbClr val="15803D"/>
                </a:solidFill>
              </a:defRPr>
            </a:pPr>
            <a:r>
              <a:t>[Importante] **Criação e Inovação (Ponto ótimo para Pós-Graduação):** _Desenvolver, projetar, propor, elaborar, arquitetar, estruturar, construir, conceber_.</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3. A Justificativa: Defendendo a Pertinência da Pesquisa</a:t>
            </a:r>
          </a:p>
        </p:txBody>
      </p:sp>
      <p:sp>
        <p:nvSpPr>
          <p:cNvPr id="3" name="Content Placeholder 2"/>
          <p:cNvSpPr>
            <a:spLocks noGrp="1"/>
          </p:cNvSpPr>
          <p:nvPr>
            <p:ph idx="1"/>
          </p:nvPr>
        </p:nvSpPr>
        <p:spPr/>
        <p:txBody>
          <a:bodyPr/>
          <a:lstStyle/>
          <a:p/>
          <a:p>
            <a:pPr>
              <a:defRPr sz="2000">
                <a:solidFill>
                  <a:srgbClr val="15803D"/>
                </a:solidFill>
              </a:defRPr>
            </a:pPr>
            <a:r>
              <a:t>[Importante] Após delinear a engenharia do que se vai fazer, é vital provar à comunidade científica — e notadamente às agências de fomento (CAPES, CNPq, FAPERJ) — **por que** esse esforço demanda financiamento, alocação de tempo institucional e recursos do programa de pós-graduação. Esta é a função precípua da Justificativa.</a:t>
            </a:r>
          </a:p>
          <a:p>
            <a:pPr>
              <a:defRPr sz="2000">
                <a:solidFill>
                  <a:srgbClr val="6D28D9"/>
                </a:solidFill>
              </a:defRPr>
            </a:pPr>
            <a:r>
              <a:t>[Prova/Trabalho] A Justificativa atua essencialmente como uma ferramenta de convencimento retórico assentado em evidências, operando em múltiplas camadas fundamentais:</a:t>
            </a:r>
          </a:p>
          <a:p>
            <a:pPr>
              <a:defRPr sz="2000">
                <a:solidFill>
                  <a:srgbClr val="0F172A"/>
                </a:solidFill>
              </a:defRPr>
            </a:pPr>
            <a:r>
              <a:t>**Justificativa Técnico-Acadêmica:** Qual a magnitude da contribuição direta desta obra para o avanço no estado da arte da disciplina? Há alguma lacuna teórica flagrante (*research gap*) que está sendo suprida de maneira inovadora por essa pesquisa em específico?</a:t>
            </a:r>
          </a:p>
          <a:p>
            <a:pPr>
              <a:defRPr sz="2000">
                <a:solidFill>
                  <a:srgbClr val="15803D"/>
                </a:solidFill>
              </a:defRPr>
            </a:pPr>
            <a:r>
              <a:t>[Importante] **Justificativa de Aplicabilidade / Social:** Onde se verificam os reflexos utilitaristas, sociais ou práticos dos achados resultantes do escopo delimitado da pesquisa? Em uma instituição de pendor tecnológico como a rede dos Institutos Federais, o peso do impacto tangencial voltado ao mundo do trabalho ou ao aprimoramento processual local ganha centralidade ímpar.</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3. A Justificativa: Defendendo a Pertinência da Pesquisa (Cont.)</a:t>
            </a:r>
          </a:p>
        </p:txBody>
      </p:sp>
      <p:sp>
        <p:nvSpPr>
          <p:cNvPr id="3" name="Content Placeholder 2"/>
          <p:cNvSpPr>
            <a:spLocks noGrp="1"/>
          </p:cNvSpPr>
          <p:nvPr>
            <p:ph idx="1"/>
          </p:nvPr>
        </p:nvSpPr>
        <p:spPr/>
        <p:txBody>
          <a:bodyPr/>
          <a:lstStyle/>
          <a:p/>
          <a:p>
            <a:pPr>
              <a:defRPr sz="2000">
                <a:solidFill>
                  <a:srgbClr val="15803D"/>
                </a:solidFill>
              </a:defRPr>
            </a:pPr>
            <a:r>
              <a:t>[Importante] **Justificativa Metodológica (quando aplicável):** Argumentação da validade em utilizar uma abordagem de investigação inédita para tratar problemas clássicos na seara do conhecimento.</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4. Diagrama: O Alinhamento Estratégico Teleológico (Mermaid)</a:t>
            </a:r>
          </a:p>
        </p:txBody>
      </p:sp>
      <p:sp>
        <p:nvSpPr>
          <p:cNvPr id="3" name="Content Placeholder 2"/>
          <p:cNvSpPr>
            <a:spLocks noGrp="1"/>
          </p:cNvSpPr>
          <p:nvPr>
            <p:ph idx="1"/>
          </p:nvPr>
        </p:nvSpPr>
        <p:spPr/>
        <p:txBody>
          <a:bodyPr/>
          <a:lstStyle/>
          <a:p/>
          <a:p>
            <a:pPr>
              <a:defRPr sz="2000">
                <a:solidFill>
                  <a:srgbClr val="15803D"/>
                </a:solidFill>
              </a:defRPr>
            </a:pPr>
            <a:r>
              <a:t>[Importante] flowchart TD</a:t>
            </a:r>
          </a:p>
          <a:p>
            <a:pPr>
              <a:defRPr sz="2000">
                <a:solidFill>
                  <a:srgbClr val="6D28D9"/>
                </a:solidFill>
              </a:defRPr>
            </a:pPr>
            <a:r>
              <a:t>[Prova/Trabalho] P[Problema de Pesquisa Delimitado e Falsificável] --&gt; OG</a:t>
            </a:r>
          </a:p>
          <a:p>
            <a:pPr>
              <a:defRPr sz="2000">
                <a:solidFill>
                  <a:srgbClr val="0F172A"/>
                </a:solidFill>
              </a:defRPr>
            </a:pPr>
            <a:r>
              <a:t>OG((Objetivo Geral:</a:t>
            </a:r>
          </a:p>
          <a:p>
            <a:pPr>
              <a:defRPr sz="2000">
                <a:solidFill>
                  <a:srgbClr val="15803D"/>
                </a:solidFill>
              </a:defRPr>
            </a:pPr>
            <a:r>
              <a:t>[Importante] Desenvolver arquitetura inovadora</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4. Diagrama: O Alinhamento Estratégico Teleológico (Mermaid) (Cont.)</a:t>
            </a:r>
          </a:p>
        </p:txBody>
      </p:sp>
      <p:sp>
        <p:nvSpPr>
          <p:cNvPr id="3" name="Content Placeholder 2"/>
          <p:cNvSpPr>
            <a:spLocks noGrp="1"/>
          </p:cNvSpPr>
          <p:nvPr>
            <p:ph idx="1"/>
          </p:nvPr>
        </p:nvSpPr>
        <p:spPr/>
        <p:txBody>
          <a:bodyPr/>
          <a:lstStyle/>
          <a:p/>
          <a:p>
            <a:pPr>
              <a:defRPr sz="2000">
                <a:solidFill>
                  <a:srgbClr val="15803D"/>
                </a:solidFill>
              </a:defRPr>
            </a:pPr>
            <a:r>
              <a:t>[Importante] de processamento...))</a:t>
            </a:r>
          </a:p>
          <a:p>
            <a:pPr>
              <a:defRPr sz="2000">
                <a:solidFill>
                  <a:srgbClr val="6D28D9"/>
                </a:solidFill>
              </a:defRPr>
            </a:pPr>
            <a:r>
              <a:t>[Prova/Trabalho] OG -- Desmembramento Analítico --&gt; OE1</a:t>
            </a:r>
          </a:p>
          <a:p>
            <a:pPr>
              <a:defRPr sz="2000">
                <a:solidFill>
                  <a:srgbClr val="0F172A"/>
                </a:solidFill>
              </a:defRPr>
            </a:pPr>
            <a:r>
              <a:t>OG -- Desmembramento Analítico --&gt; OE2</a:t>
            </a:r>
          </a:p>
          <a:p>
            <a:pPr>
              <a:defRPr sz="2000">
                <a:solidFill>
                  <a:srgbClr val="15803D"/>
                </a:solidFill>
              </a:defRPr>
            </a:pPr>
            <a:r>
              <a:t>[Importante] OG -- Desmembramento Analítico --&gt; OE3</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4. Diagrama: O Alinhamento Estratégico Teleológico (Mermaid) (Cont.)</a:t>
            </a:r>
          </a:p>
        </p:txBody>
      </p:sp>
      <p:sp>
        <p:nvSpPr>
          <p:cNvPr id="3" name="Content Placeholder 2"/>
          <p:cNvSpPr>
            <a:spLocks noGrp="1"/>
          </p:cNvSpPr>
          <p:nvPr>
            <p:ph idx="1"/>
          </p:nvPr>
        </p:nvSpPr>
        <p:spPr/>
        <p:txBody>
          <a:bodyPr/>
          <a:lstStyle/>
          <a:p/>
          <a:p>
            <a:pPr>
              <a:defRPr sz="2000">
                <a:solidFill>
                  <a:srgbClr val="15803D"/>
                </a:solidFill>
              </a:defRPr>
            </a:pPr>
            <a:r>
              <a:t>[Importante] OE1[Obj. Específico 1:</a:t>
            </a:r>
          </a:p>
          <a:p>
            <a:pPr>
              <a:defRPr sz="2000">
                <a:solidFill>
                  <a:srgbClr val="6D28D9"/>
                </a:solidFill>
              </a:defRPr>
            </a:pPr>
            <a:r>
              <a:t>[Prova/Trabalho] Sistematizar e Mapear</a:t>
            </a:r>
          </a:p>
          <a:p>
            <a:pPr>
              <a:defRPr sz="2000">
                <a:solidFill>
                  <a:srgbClr val="0F172A"/>
                </a:solidFill>
              </a:defRPr>
            </a:pPr>
            <a:r>
              <a:t>Parâmetros Técnicos Existentes]</a:t>
            </a:r>
          </a:p>
          <a:p>
            <a:pPr>
              <a:defRPr sz="2000">
                <a:solidFill>
                  <a:srgbClr val="15803D"/>
                </a:solidFill>
              </a:defRPr>
            </a:pPr>
            <a:r>
              <a:t>[Importante] OE2[Obj. Específico 2:</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10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4. Diagrama: O Alinhamento Estratégico Teleológico (Mermaid) (Cont.)</a:t>
            </a:r>
          </a:p>
        </p:txBody>
      </p:sp>
      <p:sp>
        <p:nvSpPr>
          <p:cNvPr id="3" name="Content Placeholder 2"/>
          <p:cNvSpPr>
            <a:spLocks noGrp="1"/>
          </p:cNvSpPr>
          <p:nvPr>
            <p:ph idx="1"/>
          </p:nvPr>
        </p:nvSpPr>
        <p:spPr/>
        <p:txBody>
          <a:bodyPr/>
          <a:lstStyle/>
          <a:p/>
          <a:p>
            <a:pPr>
              <a:defRPr sz="2000">
                <a:solidFill>
                  <a:srgbClr val="15803D"/>
                </a:solidFill>
              </a:defRPr>
            </a:pPr>
            <a:r>
              <a:t>[Importante] Projetar e Codificar</a:t>
            </a:r>
          </a:p>
          <a:p>
            <a:pPr>
              <a:defRPr sz="2000">
                <a:solidFill>
                  <a:srgbClr val="6D28D9"/>
                </a:solidFill>
              </a:defRPr>
            </a:pPr>
            <a:r>
              <a:t>[Prova/Trabalho] os Novos Algoritmos no Sistema]</a:t>
            </a:r>
          </a:p>
          <a:p>
            <a:pPr>
              <a:defRPr sz="2000">
                <a:solidFill>
                  <a:srgbClr val="0F172A"/>
                </a:solidFill>
              </a:defRPr>
            </a:pPr>
            <a:r>
              <a:t>OE3[Obj. Específico 3:</a:t>
            </a:r>
          </a:p>
          <a:p>
            <a:pPr>
              <a:defRPr sz="2000">
                <a:solidFill>
                  <a:srgbClr val="15803D"/>
                </a:solidFill>
              </a:defRPr>
            </a:pPr>
            <a:r>
              <a:t>[Importante] Mensurar a Otimização</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11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4. Diagrama: O Alinhamento Estratégico Teleológico (Mermaid) (Cont.)</a:t>
            </a:r>
          </a:p>
        </p:txBody>
      </p:sp>
      <p:sp>
        <p:nvSpPr>
          <p:cNvPr id="3" name="Content Placeholder 2"/>
          <p:cNvSpPr>
            <a:spLocks noGrp="1"/>
          </p:cNvSpPr>
          <p:nvPr>
            <p:ph idx="1"/>
          </p:nvPr>
        </p:nvSpPr>
        <p:spPr/>
        <p:txBody>
          <a:bodyPr/>
          <a:lstStyle/>
          <a:p/>
          <a:p>
            <a:pPr>
              <a:defRPr sz="2000">
                <a:solidFill>
                  <a:srgbClr val="15803D"/>
                </a:solidFill>
              </a:defRPr>
            </a:pPr>
            <a:r>
              <a:t>[Importante] Computacional e Validar Experimentalmente]</a:t>
            </a:r>
          </a:p>
          <a:p>
            <a:pPr>
              <a:defRPr sz="2000">
                <a:solidFill>
                  <a:srgbClr val="6D28D9"/>
                </a:solidFill>
              </a:defRPr>
            </a:pPr>
            <a:r>
              <a:t>[Prova/Trabalho] OE1 &amp; OE2 &amp; OE3 --&gt; J{Por que aprovar esse projeto?}</a:t>
            </a:r>
          </a:p>
          <a:p>
            <a:pPr>
              <a:defRPr sz="2000">
                <a:solidFill>
                  <a:srgbClr val="0F172A"/>
                </a:solidFill>
              </a:defRPr>
            </a:pPr>
            <a:r>
              <a:t>J -- Relevância --&gt; JS(Justificativa Acadêmica e Tecnológica Robusta)</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4. Diagrama: O Alinhamento Estratégico Teleológico (Mermaid) (Cont.)</a:t>
            </a:r>
          </a:p>
        </p:txBody>
      </p:sp>
      <p:sp>
        <p:nvSpPr>
          <p:cNvPr id="3" name="Content Placeholder 2"/>
          <p:cNvSpPr>
            <a:spLocks noGrp="1"/>
          </p:cNvSpPr>
          <p:nvPr>
            <p:ph idx="1"/>
          </p:nvPr>
        </p:nvSpPr>
        <p:spPr/>
        <p:txBody>
          <a:bodyPr/>
          <a:lstStyle/>
          <a:p/>
          <a:p>
            <a:pPr>
              <a:defRPr sz="2000">
                <a:solidFill>
                  <a:srgbClr val="15803D"/>
                </a:solidFill>
              </a:defRPr>
            </a:pPr>
            <a:r>
              <a:t>[Importante] Computacional e Validar Experimentalmente]</a:t>
            </a:r>
          </a:p>
          <a:p>
            <a:pPr>
              <a:defRPr sz="2000">
                <a:solidFill>
                  <a:srgbClr val="6D28D9"/>
                </a:solidFill>
              </a:defRPr>
            </a:pPr>
            <a:r>
              <a:t>[Prova/Trabalho] OE1 &amp; OE2 &amp; OE3 --&gt; J{Por que aprovar esse projeto?}</a:t>
            </a:r>
          </a:p>
          <a:p>
            <a:pPr>
              <a:defRPr sz="2000">
                <a:solidFill>
                  <a:srgbClr val="0F172A"/>
                </a:solidFill>
              </a:defRPr>
            </a:pPr>
            <a:r>
              <a:t>J -- Relevância --&gt; JS(Justificativa Acadêmica e Tecnológica Robusta)</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5. Estudo de Caso (Use Case Real e Detalhado)</a:t>
            </a:r>
          </a:p>
        </p:txBody>
      </p:sp>
      <p:sp>
        <p:nvSpPr>
          <p:cNvPr id="3" name="Content Placeholder 2"/>
          <p:cNvSpPr>
            <a:spLocks noGrp="1"/>
          </p:cNvSpPr>
          <p:nvPr>
            <p:ph idx="1"/>
          </p:nvPr>
        </p:nvSpPr>
        <p:spPr/>
        <p:txBody>
          <a:bodyPr/>
          <a:lstStyle/>
          <a:p/>
          <a:p>
            <a:pPr>
              <a:defRPr sz="2000">
                <a:solidFill>
                  <a:srgbClr val="15803D"/>
                </a:solidFill>
              </a:defRPr>
            </a:pPr>
            <a:r>
              <a:t>[Importante] **O Problema de Contexto:** A não padronização sistemática e as barreiras técnicas de aprendizagem na diagramação de documentos acadêmicos da pós-graduação institucional acarretam, historicamente, um desgaste imenso (horas de retrabalho manual) e altos índices reprobatórios por parte da comissão de validação de formatação de teses do IFF, dadas as severas não conformidades para com as disposições da Associação Brasileira de Normas Técnicas.</a:t>
            </a:r>
          </a:p>
          <a:p>
            <a:pPr>
              <a:defRPr sz="2000">
                <a:solidFill>
                  <a:srgbClr val="6D28D9"/>
                </a:solidFill>
              </a:defRPr>
            </a:pPr>
            <a:r>
              <a:t>[Prova/Trabalho] **Objetivo Geral da Pesquisa Subjacente:** "Projetar e validar exaustivamente uma classe documental LaTeX (pacote macro *ifftese*) estritamente aderente ao regramento da ABNT NBR 14724, com vistas a automatizar maciçamente as parametrizações bibliográficas, pré-textuais e de estilo estrutural no âmbito dos programas de Pós-Graduação."</a:t>
            </a:r>
          </a:p>
          <a:p>
            <a:pPr>
              <a:defRPr sz="2000">
                <a:solidFill>
                  <a:srgbClr val="0F172A"/>
                </a:solidFill>
              </a:defRPr>
            </a:pPr>
            <a:r>
              <a:t>**Objetivos Específicos Alinhados:**</a:t>
            </a:r>
          </a:p>
          <a:p>
            <a:pPr>
              <a:defRPr sz="2000">
                <a:solidFill>
                  <a:srgbClr val="15803D"/>
                </a:solidFill>
              </a:defRPr>
            </a:pPr>
            <a:r>
              <a:t>[Importante] 1. Mapear sistematicamente as exigências e os requisitos técnicos imperativos da normatização ABNT NBR 14724, alinhando-as com o manual interno de normatização para trabalhos acadêmicos institucionais (Conhecimento/Compreensão e Análise, na Taxonomia de Bloom).</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5. Estudo de Caso (Use Case Real e Detalhado) (Cont.)</a:t>
            </a:r>
          </a:p>
        </p:txBody>
      </p:sp>
      <p:sp>
        <p:nvSpPr>
          <p:cNvPr id="3" name="Content Placeholder 2"/>
          <p:cNvSpPr>
            <a:spLocks noGrp="1"/>
          </p:cNvSpPr>
          <p:nvPr>
            <p:ph idx="1"/>
          </p:nvPr>
        </p:nvSpPr>
        <p:spPr/>
        <p:txBody>
          <a:bodyPr/>
          <a:lstStyle/>
          <a:p/>
          <a:p>
            <a:pPr>
              <a:defRPr sz="2000">
                <a:solidFill>
                  <a:srgbClr val="15803D"/>
                </a:solidFill>
              </a:defRPr>
            </a:pPr>
            <a:r>
              <a:t>[Importante] 2. Codificar, testar rigorosamente e integrar rotinas em linguagem TeX/LaTeX (subjacentes ao projeto comunitário *abnTeX2*), consolidando macros parametrizáveis robustas voltadas à interface de entrada de dados discentes (Síntese e Aplicação).</a:t>
            </a:r>
          </a:p>
          <a:p>
            <a:pPr>
              <a:defRPr sz="2000">
                <a:solidFill>
                  <a:srgbClr val="6D28D9"/>
                </a:solidFill>
              </a:defRPr>
            </a:pPr>
            <a:r>
              <a:t>[Prova/Trabalho] 3. Avaliar quantitativamente a eficiência produtiva desta ferramenta por meio da aplicação controlada de um survey de validação usável em uma amostra experimental aleatória compreendendo 45 dissertações finalizadas em softwares puramente WYSIWYG, parametrizando tempo dispendido no fluxo de compilação da entrega (Avaliação).</a:t>
            </a:r>
          </a:p>
          <a:p>
            <a:pPr>
              <a:defRPr sz="2000">
                <a:solidFill>
                  <a:srgbClr val="0F172A"/>
                </a:solidFill>
              </a:defRPr>
            </a:pPr>
            <a:r>
              <a:t>**Justificativa Substantiva:** O presente desenvolvimento detém massiva expressividade institucional (Justificativa Social/Local) por salvaguardar inúmeras horas de dedicação docente/discente despendidas em diagramação braçal, bem como preencher uma lacuna instrumental vital (Justificativa Técnico-Acadêmica) na automação rigorosa do compliance normativo, reduzindo estatisticamente o volume de ressubmissões decorrentes de anomalias formais nos documentos acadêmicos depositados.</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600" b="1">
                <a:solidFill>
                  <a:srgbClr val="B45309"/>
                </a:solidFill>
              </a:defRPr>
            </a:pPr>
            <a:r>
              <a:t>6. Exercício Prático Estruturado</a:t>
            </a:r>
          </a:p>
        </p:txBody>
      </p:sp>
      <p:sp>
        <p:nvSpPr>
          <p:cNvPr id="3" name="Content Placeholder 2"/>
          <p:cNvSpPr>
            <a:spLocks noGrp="1"/>
          </p:cNvSpPr>
          <p:nvPr>
            <p:ph idx="1"/>
          </p:nvPr>
        </p:nvSpPr>
        <p:spPr/>
        <p:txBody>
          <a:bodyPr/>
          <a:lstStyle/>
          <a:p/>
          <a:p>
            <a:pPr>
              <a:defRPr sz="2000">
                <a:solidFill>
                  <a:srgbClr val="15803D"/>
                </a:solidFill>
              </a:defRPr>
            </a:pPr>
            <a:r>
              <a:t>[Importante] Instruções baseadas nos pilares ensinados (35 minutos de atividade individual):</a:t>
            </a:r>
          </a:p>
          <a:p>
            <a:pPr>
              <a:defRPr sz="2000">
                <a:solidFill>
                  <a:srgbClr val="6D28D9"/>
                </a:solidFill>
              </a:defRPr>
            </a:pPr>
            <a:r>
              <a:t>[Prova/Trabalho] 1. A partir do problema de pesquisa e hipóteses rascunhados na **Aula 01**, estabeleça por escrito, de maneira clara e inconfundível, um **Objetivo Geral**.</a:t>
            </a:r>
          </a:p>
          <a:p>
            <a:pPr>
              <a:defRPr sz="2000">
                <a:solidFill>
                  <a:srgbClr val="0F172A"/>
                </a:solidFill>
              </a:defRPr>
            </a:pPr>
            <a:r>
              <a:t>2. Construa pelo menos **três (03) Objetivos Específicos**, garantindo imperativamente que cada um dos verbos de ação selecionados advenha de estratos distintos e sucessivos, consultando formalmente a listagem recomendada da Taxonomia Revisada de Bloom.</a:t>
            </a:r>
          </a:p>
          <a:p>
            <a:pPr>
              <a:defRPr sz="2000">
                <a:solidFill>
                  <a:srgbClr val="15803D"/>
                </a:solidFill>
              </a:defRPr>
            </a:pPr>
            <a:r>
              <a:t>[Importante] 3. Elabore um parágrafo que consolide, de forma clara, o núcleo da sua Justificativa Técnica (o impacto de inovação) visando defender sua pesquisa num comitê de ética ou para o seu orientador direto.</a:t>
            </a:r>
          </a:p>
        </p:txBody>
      </p:sp>
      <p:pic>
        <p:nvPicPr>
          <p:cNvPr id="4" name="Picture 3" descr="image.png"/>
          <p:cNvPicPr>
            <a:picLocks noChangeAspect="1"/>
          </p:cNvPicPr>
          <p:nvPr/>
        </p:nvPicPr>
        <p:blipFill>
          <a:blip r:embed="rId2"/>
          <a:stretch>
            <a:fillRect/>
          </a:stretch>
        </p:blipFill>
        <p:spPr>
          <a:xfrm>
            <a:off x="457200" y="73152"/>
            <a:ext cx="2103120" cy="777240"/>
          </a:xfrm>
          <a:prstGeom prst="rect">
            <a:avLst/>
          </a:prstGeom>
        </p:spPr>
      </p:pic>
      <p:sp>
        <p:nvSpPr>
          <p:cNvPr id="5" name="TextBox 4"/>
          <p:cNvSpPr txBox="1"/>
          <p:nvPr/>
        </p:nvSpPr>
        <p:spPr>
          <a:xfrm>
            <a:off x="10972800" y="6400800"/>
            <a:ext cx="914400" cy="457200"/>
          </a:xfrm>
          <a:prstGeom prst="rect">
            <a:avLst/>
          </a:prstGeom>
          <a:noFill/>
        </p:spPr>
        <p:txBody>
          <a:bodyPr wrap="none">
            <a:spAutoFit/>
          </a:bodyPr>
          <a:lstStyle/>
          <a:p>
            <a:pPr>
              <a:defRPr sz="1200">
                <a:solidFill>
                  <a:srgbClr val="6D28D9"/>
                </a:solidFill>
              </a:defRPr>
            </a:pPr>
            <a: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F766E"/>
      </a:hlink>
      <a:folHlink>
        <a:srgbClr val="0F766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