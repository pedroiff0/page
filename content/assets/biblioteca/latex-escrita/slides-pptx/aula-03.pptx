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firstSlideNum="0">
  <p:sldMasterIdLst>
    <p:sldMasterId id="2147483648" r:id="rId1"/>
  </p:sldMasterIdLst>
  <p:sldIdLst>
    <p:sldId id="256" r:id="rId7"/>
    <p:sldId id="269" r:id="rId9"/>
    <p:sldId id="270" r:id="rId10"/>
    <p:sldId id="271" r:id="rId11"/>
    <p:sldId id="272" r:id="rId12"/>
    <p:sldId id="273" r:id="rId13"/>
    <p:sldId id="274" r:id="rId14"/>
    <p:sldId id="275" r:id="rId15"/>
    <p:sldId id="276" r:id="rId16"/>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phrandrade.com" TargetMode="External"/><Relationship Id="rId4" Type="http://schemas.openxmlformats.org/officeDocument/2006/relationships/hyperlink" Target="mailto:pedroiff0@gmail.com" TargetMode="External"/><Relationship Id="rId5"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ff_bji_light.png"/>
          <p:cNvPicPr>
            <a:picLocks noChangeAspect="1"/>
          </p:cNvPicPr>
          <p:nvPr/>
        </p:nvPicPr>
        <p:blipFill>
          <a:blip r:embed="rId2"/>
          <a:stretch>
            <a:fillRect/>
          </a:stretch>
        </p:blipFill>
        <p:spPr>
          <a:xfrm>
            <a:off x="731520" y="457200"/>
            <a:ext cx="2316480" cy="868680"/>
          </a:xfrm>
          <a:prstGeom prst="rect">
            <a:avLst/>
          </a:prstGeom>
        </p:spPr>
      </p:pic>
      <p:sp>
        <p:nvSpPr>
          <p:cNvPr id="3" name="TextBox 2"/>
          <p:cNvSpPr txBox="1"/>
          <p:nvPr/>
        </p:nvSpPr>
        <p:spPr>
          <a:xfrm>
            <a:off x="731520" y="1645920"/>
            <a:ext cx="10728655" cy="2286000"/>
          </a:xfrm>
          <a:prstGeom prst="rect">
            <a:avLst/>
          </a:prstGeom>
          <a:noFill/>
        </p:spPr>
        <p:txBody>
          <a:bodyPr wrap="square">
            <a:spAutoFit/>
          </a:bodyPr>
          <a:lstStyle/>
          <a:p>
            <a:pPr>
              <a:defRPr sz="2600" b="1">
                <a:solidFill>
                  <a:srgbClr val="B45309"/>
                </a:solidFill>
                <a:latin typeface="Arial"/>
              </a:defRPr>
            </a:pPr>
            <a:r>
              <a:t>AULA 03: RESUMO, ABSTRACT E PALAVRAS-CHAVE (NBR 6028)</a:t>
            </a:r>
          </a:p>
          <a:p>
            <a:pPr>
              <a:defRPr sz="1600">
                <a:solidFill>
                  <a:srgbClr val="15803D"/>
                </a:solidFill>
              </a:defRPr>
            </a:pPr>
            <a:r>
              <a:t>Estrutura uniparágrafo informativa e vocabulários controlados (ABNT NBR 6028:2021)\nCurso: LaTeX e Escrita Acadêmica — Normas ABNT</a:t>
            </a:r>
          </a:p>
        </p:txBody>
      </p:sp>
      <p:sp>
        <p:nvSpPr>
          <p:cNvPr id="4" name="TextBox 3"/>
          <p:cNvSpPr txBox="1"/>
          <p:nvPr/>
        </p:nvSpPr>
        <p:spPr>
          <a:xfrm>
            <a:off x="731520" y="4389120"/>
            <a:ext cx="10728655" cy="1645920"/>
          </a:xfrm>
          <a:prstGeom prst="rect">
            <a:avLst/>
          </a:prstGeom>
          <a:noFill/>
        </p:spPr>
        <p:txBody>
          <a:bodyPr wrap="square">
            <a:spAutoFit/>
          </a:bodyPr>
          <a:lstStyle/>
          <a:p>
            <a:pPr>
              <a:defRPr sz="1400" b="1">
                <a:solidFill>
                  <a:srgbClr val="B45309"/>
                </a:solidFill>
                <a:latin typeface="Arial"/>
              </a:defRPr>
            </a:pPr>
            <a:r>
              <a:t>Pedro Henrique Rocha de Andrade</a:t>
            </a:r>
          </a:p>
          <a:p>
            <a:pPr>
              <a:defRPr sz="1200">
                <a:solidFill>
                  <a:srgbClr val="6D28D9"/>
                </a:solidFill>
              </a:defRPr>
            </a:pPr>
            <a:r>
              <a:t>Instituto Federal Fluminense (IFF) — Campus Bom Jesus do Itabapoana\nCurso: LaTeX e Escrita Acadêmica</a:t>
            </a:r>
          </a:p>
        </p:txBody>
      </p:sp>
      <p:pic>
        <p:nvPicPr>
          <p:cNvPr id="5" name="Picture 4" descr="qrcode_transparente.png"/>
          <p:cNvPicPr>
            <a:picLocks noChangeAspect="1"/>
          </p:cNvPicPr>
          <p:nvPr/>
        </p:nvPicPr>
        <p:blipFill>
          <a:blip r:embed="rId3"/>
          <a:stretch>
            <a:fillRect/>
          </a:stretch>
        </p:blipFill>
        <p:spPr>
          <a:xfrm>
            <a:off x="9601200" y="1371600"/>
            <a:ext cx="1828800" cy="1828800"/>
          </a:xfrm>
          <a:prstGeom prst="rect">
            <a:avLst/>
          </a:prstGeom>
        </p:spPr>
      </p:pic>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1. O Resumo Acadêmico Sob o Prisma Normativo Moderno</a:t>
            </a:r>
          </a:p>
        </p:txBody>
      </p:sp>
      <p:sp>
        <p:nvSpPr>
          <p:cNvPr id="3" name="Content Placeholder 2"/>
          <p:cNvSpPr>
            <a:spLocks noGrp="1"/>
          </p:cNvSpPr>
          <p:nvPr>
            <p:ph idx="1"/>
          </p:nvPr>
        </p:nvSpPr>
        <p:spPr/>
        <p:txBody>
          <a:bodyPr/>
          <a:lstStyle/>
          <a:p/>
          <a:p>
            <a:pPr>
              <a:defRPr sz="2000">
                <a:solidFill>
                  <a:srgbClr val="15803D"/>
                </a:solidFill>
              </a:defRPr>
            </a:pPr>
            <a:r>
              <a:t>[Importante] O resumo de um trabalho de pós-graduação ou artigo científico é incomensuravelmente mais do que uma mera sinopse editorial ou sinopse comercial de livro. Trata-se da apresentação meticulosa, sumária, rigorosamente concisa e inteiramente objetiva dos pontos e achados mais decisivos de um documento. No paradigma comunicacional contemporâneo regido pelos metadados e indexações automatizadas das bases indexadoras e repositórios acadêmicos digitais, o resumo converteu-se na principal, senão na única, "vitrine textual" que atrai ou rechaça outros pesquisadores em sua prospecção de leitura.</a:t>
            </a:r>
          </a:p>
          <a:p>
            <a:pPr>
              <a:defRPr sz="2000">
                <a:solidFill>
                  <a:srgbClr val="6D28D9"/>
                </a:solidFill>
              </a:defRPr>
            </a:pPr>
            <a:r>
              <a:t>[Prova/Trabalho] Para amalgamar e balizar a uniformidade dessa estrutura crucial e elementar, vigora soberana no país a **ABNT NBR 6028**, recentemente revisada em maio de **2021** (uma atualização fundamental após a arcaica norma anterior datada de 2003, implementando modificações de grande impacto).</a:t>
            </a:r>
          </a:p>
          <a:p>
            <a:pPr>
              <a:defRPr sz="2000">
                <a:solidFill>
                  <a:srgbClr val="2563EB"/>
                </a:solidFill>
              </a:defRPr>
            </a:pPr>
            <a:r>
              <a:t>[Vale Lembrar] As Cláusulas de Pedra da ABNT NBR 6028:2021</a:t>
            </a:r>
          </a:p>
          <a:p>
            <a:pPr>
              <a:defRPr sz="2000">
                <a:solidFill>
                  <a:srgbClr val="15803D"/>
                </a:solidFill>
              </a:defRPr>
            </a:pPr>
            <a:r>
              <a:t>[Importante] Todo aluno de programa formativo estrito senso deve internalizar que qualquer desvio nesta seção resultará na imediata rejeição protocolar da tese. A norma prescreve imperativamente as seguintes diretrizes fundacionais e estéticas para a escrita adequada dos resumos formativos indicativos e informativos:</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1. O Resumo Acadêmico Sob o Prisma Normativo Moderno (Cont.)</a:t>
            </a:r>
          </a:p>
        </p:txBody>
      </p:sp>
      <p:sp>
        <p:nvSpPr>
          <p:cNvPr id="3" name="Content Placeholder 2"/>
          <p:cNvSpPr>
            <a:spLocks noGrp="1"/>
          </p:cNvSpPr>
          <p:nvPr>
            <p:ph idx="1"/>
          </p:nvPr>
        </p:nvSpPr>
        <p:spPr/>
        <p:txBody>
          <a:bodyPr/>
          <a:lstStyle/>
          <a:p/>
          <a:p>
            <a:pPr>
              <a:defRPr sz="2000">
                <a:solidFill>
                  <a:srgbClr val="15803D"/>
                </a:solidFill>
              </a:defRPr>
            </a:pPr>
            <a:r>
              <a:t>[Importante] 1. **Restrições Extremas de Extensão Paramétrica (Contagem de Palavras):**</a:t>
            </a:r>
          </a:p>
          <a:p>
            <a:pPr>
              <a:defRPr sz="2000">
                <a:solidFill>
                  <a:srgbClr val="6D28D9"/>
                </a:solidFill>
              </a:defRPr>
            </a:pPr>
            <a:r>
              <a:t>[Prova/Trabalho] Trabalhos acadêmicos de vulto maior (Teses de Doutorado, Dissertações de Mestrado e Projetos de Pesquisa densos) ou relatórios técnico-científicos: **Obrigatoriedade imperiosa de contenção entre 150 e 500 palavras**.</a:t>
            </a:r>
          </a:p>
          <a:p>
            <a:pPr>
              <a:defRPr sz="2000">
                <a:solidFill>
                  <a:srgbClr val="0F172A"/>
                </a:solidFill>
              </a:defRPr>
            </a:pPr>
            <a:r>
              <a:t>Para Artigos Científicos veiculados em periódicos acadêmicos rigorosos, monografias ou publicações curtas e seriadas: **A delimitação restringe-se ao intervalo de 100 a 250 palavras**.</a:t>
            </a:r>
          </a:p>
          <a:p>
            <a:pPr>
              <a:defRPr sz="2000">
                <a:solidFill>
                  <a:srgbClr val="15803D"/>
                </a:solidFill>
              </a:defRPr>
            </a:pPr>
            <a:r>
              <a:t>[Importante] 2. **Formatação Estética Maciça (O Bloco Monolítico):** O texto obrigatoriamente deve ser diagramado e redigido na forma de **um único parágrafo fluido**, um bloco denso contínuo (jamais com quebras de linha que inaugurem novos parágrafos, tabulações ou enumerações de qualquer sorte).</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1. O Resumo Acadêmico Sob o Prisma Normativo Moderno (Cont.)</a:t>
            </a:r>
          </a:p>
        </p:txBody>
      </p:sp>
      <p:sp>
        <p:nvSpPr>
          <p:cNvPr id="3" name="Content Placeholder 2"/>
          <p:cNvSpPr>
            <a:spLocks noGrp="1"/>
          </p:cNvSpPr>
          <p:nvPr>
            <p:ph idx="1"/>
          </p:nvPr>
        </p:nvSpPr>
        <p:spPr/>
        <p:txBody>
          <a:bodyPr/>
          <a:lstStyle/>
          <a:p/>
          <a:p>
            <a:pPr>
              <a:defRPr sz="2000">
                <a:solidFill>
                  <a:srgbClr val="15803D"/>
                </a:solidFill>
              </a:defRPr>
            </a:pPr>
            <a:r>
              <a:t>[Importante] 3. **Restrições Estilísticas Profundas:** O texto não comporta divagações subjetivas. É mandatório o uso de redação em terceira pessoa do singular combinada estritamente com verbos na voz ativa de maneira preponderante (ex: "A pesquisa analisa" em vez de "O presente autor pesquisou" ou "Foi analisado pela pesquisa"). Evita-se totalmente a alocução na primeira pessoa ("eu fiz", "nós pesquisamos").</a:t>
            </a:r>
          </a:p>
          <a:p>
            <a:pPr>
              <a:defRPr sz="2000">
                <a:solidFill>
                  <a:srgbClr val="6D28D9"/>
                </a:solidFill>
              </a:defRPr>
            </a:pPr>
            <a:r>
              <a:t>[Prova/Trabalho] **IMPORTANTE:** Expressamente e irrestritamente proíbe-se a inclusão contígua de citações bibliográficas padrão, fórmulas físicas ou matemáticas elaboradas complexas, ilustrações, diagramas vetoriais ou dados não cruciais no escopo restrito do texto do resumo, ressalvada as excepcionalidades raríssimas nas quais toda a obra dependa fatalmente de uma única referência (neste caso, a referência completa em norma figurará acoplada ao próprio texto discursivo, sem notas de rodapé).</a:t>
            </a:r>
          </a:p>
          <a:p>
            <a:pPr>
              <a:defRPr sz="2000">
                <a:solidFill>
                  <a:srgbClr val="0F172A"/>
                </a:solidFill>
              </a:defRPr>
            </a:pPr>
            <a:r>
              <a:t>4. **Componentes Estruturais Mandatórios do Conteúdo (Sequenciamento de Redação):** O conteúdo tem que necessariamente contemplar, numa concatenação orgânica natural, os seguintes itens em ordem cronológica discursiva implícita: O cenário temático envolvente (breve), o objetivo imperativo de desenvolvimento da obra, a estratégia e arcabouço metodológico utilizado integralmente, as descobertas centrais pormenorizadas qualitativa ou quantitativamente (os resultados-chave) e, a remate, o desenlace analítico e confluência do estudo (conclusões ou contribuições diretas).</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2. A Tradução Idiomática Indispensável: *Abstract* (O Resumo em Língua Estrangeira)</a:t>
            </a:r>
          </a:p>
        </p:txBody>
      </p:sp>
      <p:sp>
        <p:nvSpPr>
          <p:cNvPr id="3" name="Content Placeholder 2"/>
          <p:cNvSpPr>
            <a:spLocks noGrp="1"/>
          </p:cNvSpPr>
          <p:nvPr>
            <p:ph idx="1"/>
          </p:nvPr>
        </p:nvSpPr>
        <p:spPr/>
        <p:txBody>
          <a:bodyPr/>
          <a:lstStyle/>
          <a:p/>
          <a:p>
            <a:pPr>
              <a:defRPr sz="2000">
                <a:solidFill>
                  <a:srgbClr val="15803D"/>
                </a:solidFill>
              </a:defRPr>
            </a:pPr>
            <a:r>
              <a:t>[Importante] Tão elementar quanto o resumo vernáculo, a confecção do resumo traduzido meticulosamente para o léxico do idioma inglês (*Abstract*) (ou espanhol, francês, conforme os editais ou a vocação da revista/programa) é uma premissa básica da veiculação acadêmica moderna com miras à internacionalização de impacto. Esta tradução deve possuir caráter rigorosamente idiomático, preservando as nuanças do jargão técnico refinado próprio da disciplina. Ferramentas automatizadas sem moderação e revisão humana qualificada tendem a gerar catástrofes semânticas no registro de vocabulário específico setorial, arruinando a respeitabilidade do documento perante a academia global.</a:t>
            </a:r>
          </a:p>
          <a:p>
            <a:pPr>
              <a:defRPr sz="2000">
                <a:solidFill>
                  <a:srgbClr val="6D28D9"/>
                </a:solidFill>
              </a:defRPr>
            </a:pPr>
            <a:r>
              <a:t>[Prova/Trabalho] Em conformidade a NBR 14724 (que trata do trabalho final como um todo), a diagramação do abstract é equivalente à do resumo: apresenta-se em folha individual em separado, imediatamente sequenciada à folha dedicada ao resumo em língua vernácula pátria, também possuindo, em anexo à sua composição, palavras-chave fielmente traduzidas (*Keywords*).</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3. As Palavras-Chave (Elementos Representativos de Recuperação Documental)</a:t>
            </a:r>
          </a:p>
        </p:txBody>
      </p:sp>
      <p:sp>
        <p:nvSpPr>
          <p:cNvPr id="3" name="Content Placeholder 2"/>
          <p:cNvSpPr>
            <a:spLocks noGrp="1"/>
          </p:cNvSpPr>
          <p:nvPr>
            <p:ph idx="1"/>
          </p:nvPr>
        </p:nvSpPr>
        <p:spPr/>
        <p:txBody>
          <a:bodyPr/>
          <a:lstStyle/>
          <a:p/>
          <a:p>
            <a:pPr>
              <a:defRPr sz="2000">
                <a:solidFill>
                  <a:srgbClr val="15803D"/>
                </a:solidFill>
              </a:defRPr>
            </a:pPr>
            <a:r>
              <a:t>[Importante] Situam-se obrigatoriamente dispostas, por regra gramatical e de normatização documentária, abaixo e destacadamente em sequência iminente ao bloco de texto principal (parágrafo único) do resumo (ou abstract, como *keywords*). Elas servem integralmente à premissa basal de facilitar o algorítmico resgate de informação (*Information Retrieval*).</a:t>
            </a:r>
          </a:p>
          <a:p>
            <a:pPr>
              <a:defRPr sz="2000">
                <a:solidFill>
                  <a:srgbClr val="6D28D9"/>
                </a:solidFill>
              </a:defRPr>
            </a:pPr>
            <a:r>
              <a:t>[Prova/Trabalho] De acordo com a NBR 6028:2021, o modelo adotado prescreve que os termos-chave sejam precedidos expressamente pela locução exata "Palavras-chave:", com cada palavra em particular sendo dividida das subsequentes pelo emprego impositivo de ponto e vírgula, e o fechamento do bloco concluído categoricamente por um ponto final ordinário.</a:t>
            </a:r>
          </a:p>
          <a:p>
            <a:pPr>
              <a:defRPr sz="2000">
                <a:solidFill>
                  <a:srgbClr val="0F172A"/>
                </a:solidFill>
              </a:defRPr>
            </a:pPr>
            <a:r>
              <a:t>*Exemplo rigoroso:*</a:t>
            </a:r>
          </a:p>
          <a:p>
            <a:pPr>
              <a:defRPr sz="2000">
                <a:solidFill>
                  <a:srgbClr val="15803D"/>
                </a:solidFill>
              </a:defRPr>
            </a:pPr>
            <a:r>
              <a:t>[Importante] Palavras-chave: Latex avançado; Normatização acadêmica documental; ABNT NBR 6028.</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4. Diagrama Analítico: Estrutura Interna Recomendada do Resumo (Mermaid)</a:t>
            </a:r>
          </a:p>
        </p:txBody>
      </p:sp>
      <p:sp>
        <p:nvSpPr>
          <p:cNvPr id="3" name="Content Placeholder 2"/>
          <p:cNvSpPr>
            <a:spLocks noGrp="1"/>
          </p:cNvSpPr>
          <p:nvPr>
            <p:ph idx="1"/>
          </p:nvPr>
        </p:nvSpPr>
        <p:spPr/>
        <p:txBody>
          <a:bodyPr/>
          <a:lstStyle/>
          <a:p/>
          <a:p>
            <a:pPr>
              <a:defRPr sz="2000">
                <a:solidFill>
                  <a:srgbClr val="15803D"/>
                </a:solidFill>
              </a:defRPr>
            </a:pPr>
            <a:r>
              <a:t>[Importante] A[Abertura Breve: Contextualização Temática Circunstancial - 1 a 2 frases] --&gt; B[Apresentação do Problema e Explicitação do Objetivo Geral - 1 a 2 frases]</a:t>
            </a:r>
          </a:p>
          <a:p>
            <a:pPr>
              <a:defRPr sz="2000">
                <a:solidFill>
                  <a:srgbClr val="6D28D9"/>
                </a:solidFill>
              </a:defRPr>
            </a:pPr>
            <a:r>
              <a:t>[Prova/Trabalho] B --&gt; C[Demarcação do Arcabouço Metodológico Central - 2 a 3 frases]</a:t>
            </a:r>
          </a:p>
          <a:p>
            <a:pPr>
              <a:defRPr sz="2000">
                <a:solidFill>
                  <a:srgbClr val="0F172A"/>
                </a:solidFill>
              </a:defRPr>
            </a:pPr>
            <a:r>
              <a:t>C --&gt; D[Sumário Factual dos Resultados e Descobertas Nucleares - 2 a 4 frases]</a:t>
            </a:r>
          </a:p>
          <a:p>
            <a:pPr>
              <a:defRPr sz="2000">
                <a:solidFill>
                  <a:srgbClr val="15803D"/>
                </a:solidFill>
              </a:defRPr>
            </a:pPr>
            <a:r>
              <a:t>[Importante] D --&gt; E[Desfecho Conclusivo e Contribuição Teórico/Prática da Pesquisa - 1 a 2 frases]</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5. Estudo de Caso Crítico (Use Case Prático na Redação)</a:t>
            </a:r>
          </a:p>
        </p:txBody>
      </p:sp>
      <p:sp>
        <p:nvSpPr>
          <p:cNvPr id="3" name="Content Placeholder 2"/>
          <p:cNvSpPr>
            <a:spLocks noGrp="1"/>
          </p:cNvSpPr>
          <p:nvPr>
            <p:ph idx="1"/>
          </p:nvPr>
        </p:nvSpPr>
        <p:spPr/>
        <p:txBody>
          <a:bodyPr/>
          <a:lstStyle/>
          <a:p/>
          <a:p>
            <a:pPr>
              <a:defRPr sz="2000">
                <a:solidFill>
                  <a:srgbClr val="15803D"/>
                </a:solidFill>
              </a:defRPr>
            </a:pPr>
            <a:r>
              <a:t>[Importante] **A Falha Comum na Documentação em LaTeX:** Dentre a imensa gama de calouros e discentes recém-admitidos na escrita utilizando o sistema de tipografia científica LaTeX, há o deslize costumeiro brutal em tentar compilar a documentação acadêmica fazendo uso do ambiente rudimentar nativo `\begin{abstract}` originário das primitivas classes fundamentais anglo-saxônicas tradicionais padrão (como `article`, `report`, ou `book`), os quais divergem brutalmente do layout ditado pelo órgão normatizador pátrio. Esses ambientes legados promovem um desastroso texto justificado mais estreito ou centralizado que subverte a rigidez exigida pela formatação oficial nacional.</a:t>
            </a:r>
          </a:p>
          <a:p>
            <a:pPr>
              <a:defRPr sz="2000">
                <a:solidFill>
                  <a:srgbClr val="6D28D9"/>
                </a:solidFill>
              </a:defRPr>
            </a:pPr>
            <a:r>
              <a:t>[Prova/Trabalho] **A Solução Efetiva Empregada:** O advento salutar do projeto normativo robusto (pacote comunitário nacional `abnTeX2`, núcleo de classes institucionais especializadas como `ifftese`) sana, automatiza e padroniza este passivo. Ele provê, internamente, um ambiente macro altamente especializado parametrizado de nome `\begin{resumo}`, que automaticamente impõe a recusa assertiva de parágrafos suplementares errôneos, engessa as normativas visuais da regra corrente, adere à margem rigorosa correta exigida (alinhamento sem recuos), padroniza a formatação de título ("Resumo" centralizado, maiúsculo e negrito), facilitando maciçamente e inibindo desvios normativos graves do acadêmico inexperiente.</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6. Exercício Prático Exigido</a:t>
            </a:r>
          </a:p>
        </p:txBody>
      </p:sp>
      <p:sp>
        <p:nvSpPr>
          <p:cNvPr id="3" name="Content Placeholder 2"/>
          <p:cNvSpPr>
            <a:spLocks noGrp="1"/>
          </p:cNvSpPr>
          <p:nvPr>
            <p:ph idx="1"/>
          </p:nvPr>
        </p:nvSpPr>
        <p:spPr/>
        <p:txBody>
          <a:bodyPr/>
          <a:lstStyle/>
          <a:p/>
          <a:p>
            <a:pPr>
              <a:defRPr sz="2000">
                <a:solidFill>
                  <a:srgbClr val="15803D"/>
                </a:solidFill>
              </a:defRPr>
            </a:pPr>
            <a:r>
              <a:t>[Importante] Instruções fundamentais (25 minutos de labor analítico intenso):</a:t>
            </a:r>
          </a:p>
          <a:p>
            <a:pPr>
              <a:defRPr sz="2000">
                <a:solidFill>
                  <a:srgbClr val="6D28D9"/>
                </a:solidFill>
              </a:defRPr>
            </a:pPr>
            <a:r>
              <a:t>[Prova/Trabalho] Recorra às bases de busca consolidadas em seu horizonte e ramo investigativo (Portal de Periódicos CAPES, Scielo, Google Acadêmico) e selecione o resumo e palavras-chave de um artigo científico balizador muito citado inerente ao tema de seu vindouro TCC/Dissertação. Analise e desconstrua ativamente as diretrizes perante o material.</a:t>
            </a:r>
          </a:p>
          <a:p>
            <a:pPr>
              <a:defRPr sz="2000">
                <a:solidFill>
                  <a:srgbClr val="0F172A"/>
                </a:solidFill>
              </a:defRPr>
            </a:pPr>
            <a:r>
              <a:t>1. Promova a contagem rígida de palavras. O documento selecionado aderiu de fato fielmente à regulação prescrita da ABNT sobre as dimensões ideais recomendadas ou o autor extrapolou grotescamente os ditames (sub/super dimensionamento)?</a:t>
            </a:r>
          </a:p>
          <a:p>
            <a:pPr>
              <a:defRPr sz="2000">
                <a:solidFill>
                  <a:srgbClr val="15803D"/>
                </a:solidFill>
              </a:defRPr>
            </a:pPr>
            <a:r>
              <a:t>[Importante] 2. Realize a desconstrução morfológica e estrutural das sentenças. Você é capaz de segmentar (com marca-texto ou digitalmente) nitidamente as cinco facetas nucleares constituintes que compõem o modelo perfeito (Contextualização, Demarcação, Método Adotado, Achados Empíricos e Contribuição/Desfecho)? Em caso negativo, discuta onde a redação falhou pela opacidade.</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67512" y="594360"/>
            <a:ext cx="3749039" cy="1828800"/>
          </a:xfrm>
          <a:prstGeom prst="rect">
            <a:avLst/>
          </a:prstGeom>
          <a:noFill/>
        </p:spPr>
        <p:txBody>
          <a:bodyPr wrap="square" lIns="0" tIns="0" rIns="0" bIns="0">
            <a:spAutoFit/>
          </a:bodyPr>
          <a:lstStyle/>
          <a:p>
            <a:pPr>
              <a:spcAft>
                <a:spcPts val="800"/>
              </a:spcAft>
              <a:defRPr sz="3600" b="1">
                <a:solidFill>
                  <a:srgbClr val="00923F"/>
                </a:solidFill>
                <a:latin typeface="Arial"/>
              </a:defRPr>
            </a:pPr>
            <a:r>
              <a:t>Obrigado!</a:t>
            </a:r>
          </a:p>
          <a:p>
            <a:pPr>
              <a:defRPr sz="3200" b="1">
                <a:solidFill>
                  <a:srgbClr val="1E293B"/>
                </a:solidFill>
                <a:latin typeface="Arial"/>
              </a:defRPr>
            </a:pPr>
            <a:r>
              <a:t>Dúvidas?</a:t>
            </a:r>
          </a:p>
        </p:txBody>
      </p:sp>
      <p:sp>
        <p:nvSpPr>
          <p:cNvPr id="3" name="TextBox 2"/>
          <p:cNvSpPr txBox="1"/>
          <p:nvPr/>
        </p:nvSpPr>
        <p:spPr>
          <a:xfrm>
            <a:off x="640080" y="2852928"/>
            <a:ext cx="4937760" cy="1188720"/>
          </a:xfrm>
          <a:prstGeom prst="rect">
            <a:avLst/>
          </a:prstGeom>
          <a:noFill/>
        </p:spPr>
        <p:txBody>
          <a:bodyPr wrap="square" lIns="0" tIns="0" rIns="0" bIns="0">
            <a:spAutoFit/>
          </a:bodyPr>
          <a:lstStyle/>
          <a:p>
            <a:pPr>
              <a:spcAft>
                <a:spcPts val="800"/>
              </a:spcAft>
              <a:defRPr sz="2200" b="1">
                <a:solidFill>
                  <a:srgbClr val="1E293B"/>
                </a:solidFill>
                <a:latin typeface="Arial"/>
              </a:defRPr>
            </a:pPr>
            <a:r>
              <a:t>Pedro H. R. de Andrade</a:t>
            </a:r>
          </a:p>
          <a:p>
            <a:pPr>
              <a:defRPr sz="1600">
                <a:solidFill>
                  <a:srgbClr val="00923F"/>
                </a:solidFill>
                <a:latin typeface="Arial"/>
              </a:defRPr>
            </a:pPr>
            <a:r>
              <a:t>E-mail: pedroiff0@gmail.com</a:t>
            </a:r>
          </a:p>
        </p:txBody>
      </p:sp>
      <p:pic>
        <p:nvPicPr>
          <p:cNvPr id="4" name="Picture 3" descr="cosmic_qrcode_transparente_preto.png"/>
          <p:cNvPicPr>
            <a:picLocks noChangeAspect="1"/>
          </p:cNvPicPr>
          <p:nvPr/>
        </p:nvPicPr>
        <p:blipFill>
          <a:blip r:embed="rId2"/>
          <a:stretch>
            <a:fillRect/>
          </a:stretch>
        </p:blipFill>
        <p:spPr>
          <a:xfrm>
            <a:off x="5632704" y="0"/>
            <a:ext cx="6583680" cy="6583680"/>
          </a:xfrm>
          <a:prstGeom prst="rect">
            <a:avLst/>
          </a:prstGeom>
        </p:spPr>
      </p:pic>
      <p:sp>
        <p:nvSpPr>
          <p:cNvPr id="5" name="TextBox 4"/>
          <p:cNvSpPr txBox="1"/>
          <p:nvPr/>
        </p:nvSpPr>
        <p:spPr>
          <a:xfrm>
            <a:off x="6318504" y="6126480"/>
            <a:ext cx="5212080" cy="438912"/>
          </a:xfrm>
          <a:prstGeom prst="rect">
            <a:avLst/>
          </a:prstGeom>
          <a:noFill/>
        </p:spPr>
        <p:txBody>
          <a:bodyPr wrap="square" lIns="0" tIns="0" rIns="0" bIns="0">
            <a:spAutoFit/>
          </a:bodyPr>
          <a:lstStyle/>
          <a:p>
            <a:pPr algn="ctr"/>
            <a:r>
              <a:rPr sz="1400" i="1">
                <a:solidFill>
                  <a:srgbClr val="00923F"/>
                </a:solidFill>
                <a:latin typeface="Arial"/>
                <a:hlinkClick r:id="rId3"/>
              </a:rPr>
              <a:t>www.phrandrade.com</a:t>
            </a:r>
          </a:p>
        </p:txBody>
      </p:sp>
      <p:sp>
        <p:nvSpPr>
          <p:cNvPr id="6" name="Rectangle 5"/>
          <p:cNvSpPr/>
          <p:nvPr/>
        </p:nvSpPr>
        <p:spPr>
          <a:xfrm>
            <a:off x="0" y="6583680"/>
            <a:ext cx="12191695" cy="9144"/>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20256"/>
            <a:ext cx="3657600" cy="182880"/>
          </a:xfrm>
          <a:prstGeom prst="rect">
            <a:avLst/>
          </a:prstGeom>
          <a:noFill/>
        </p:spPr>
        <p:txBody>
          <a:bodyPr wrap="none" lIns="0" tIns="0" rIns="0" bIns="0">
            <a:spAutoFit/>
          </a:bodyPr>
          <a:lstStyle/>
          <a:p>
            <a:r>
              <a:rPr sz="900">
                <a:solidFill>
                  <a:srgbClr val="1E293B"/>
                </a:solidFill>
                <a:latin typeface="Arial"/>
                <a:hlinkClick r:id="rId4"/>
              </a:rPr>
              <a:t>Pedro H. R. de Andrade</a:t>
            </a:r>
          </a:p>
        </p:txBody>
      </p:sp>
      <p:sp>
        <p:nvSpPr>
          <p:cNvPr id="8" name="TextBox 7"/>
          <p:cNvSpPr txBox="1"/>
          <p:nvPr/>
        </p:nvSpPr>
        <p:spPr>
          <a:xfrm>
            <a:off x="3809847" y="6620256"/>
            <a:ext cx="4572000" cy="182880"/>
          </a:xfrm>
          <a:prstGeom prst="rect">
            <a:avLst/>
          </a:prstGeom>
          <a:noFill/>
        </p:spPr>
        <p:txBody>
          <a:bodyPr wrap="none" lIns="0" tIns="0" rIns="0" bIns="0">
            <a:spAutoFit/>
          </a:bodyPr>
          <a:lstStyle/>
          <a:p>
            <a:pPr algn="ctr"/>
            <a:r>
              <a:rPr sz="900">
                <a:solidFill>
                  <a:srgbClr val="1E293B"/>
                </a:solidFill>
                <a:latin typeface="Arial"/>
              </a:rPr>
              <a:t>IFF Bom Jesus do Itabapoana</a:t>
            </a:r>
          </a:p>
        </p:txBody>
      </p:sp>
      <p:sp>
        <p:nvSpPr>
          <p:cNvPr id="9" name="TextBox 8"/>
          <p:cNvSpPr txBox="1"/>
          <p:nvPr>
            <p:ph type="sldNum" sz="quarter"/>
          </p:nvPr>
        </p:nvSpPr>
        <p:spPr>
          <a:xfrm>
            <a:off x="7802575" y="6620256"/>
            <a:ext cx="3657600" cy="182880"/>
          </a:xfrm>
          <a:prstGeom prst="rect">
            <a:avLst/>
          </a:prstGeom>
          <a:noFill/>
        </p:spPr>
        <p:txBody>
          <a:bodyPr wrap="none" lIns="0" tIns="0" rIns="0" bIns="0">
            <a:spAutoFit/>
          </a:bodyPr>
          <a:lstStyle/>
          <a:p>
            <a:pPr algn="r"/>
            <a:fld id="{53AF88E2-2E5C-47E5-9D67-7D15B9A608F7}" type="slidenum">
              <a:rPr sz="900" face="Arial">
                <a:solidFill>
                  <a:srgbClr val="1E293B"/>
                </a:solidFill>
              </a:rPr>
              <a:t>12</a:t>
            </a:fld>
            <a:r>
              <a:rPr sz="900" face="Arial">
                <a:solidFill>
                  <a:srgbClr val="1E293B"/>
                </a:solidFill>
              </a:rPr>
              <a:t> / 14</a:t>
            </a:r>
          </a:p>
        </p:txBody>
      </p:sp>
      <p:pic>
        <p:nvPicPr>
          <p:cNvPr id="43" name="Picture 42" descr="qrcode_transparente.png"/>
          <p:cNvPicPr>
            <a:picLocks noChangeAspect="1"/>
          </p:cNvPicPr>
          <p:nvPr/>
        </p:nvPicPr>
        <p:blipFill>
          <a:blip r:embed="rId5"/>
          <a:stretch>
            <a:fillRect/>
          </a:stretch>
        </p:blipFill>
        <p:spPr>
          <a:xfrm>
            <a:off x="9326880" y="3931920"/>
            <a:ext cx="2194560" cy="2194560"/>
          </a:xfrm>
          <a:prstGeom prst="rect">
            <a:avLst/>
          </a:prstGeom>
        </p:spPr>
      </p:pic>
    </p:spTree>
  </p:cSld>
  <p:clrMapOvr>
    <a:masterClrMapping/>
  </p:clrMapOvr>
  <p:transition spd="med">
    <p:fade/>
  </p:transition>
  <p:timing>
    <p:tnLst>
      <p:par>
        <p:cTn id="0" dur="indefinite" nodeType="tmRoot">
          <p:childTnLst>
            <p:seq concurrent="1" nextAc="nextTemplate" type="sldAnimMeth">
              <p:cTn id="1" dur="indefinite" nodeType="mainSeq">
                <p:childTnLst>
                  <p:par>
                    <p:cTn id="10" fill="hold" nodeType="clickEffect">
                      <p:stCondLst>
                        <p:cond evt="onBegin" delay="0"/>
                      </p:stCondLst>
                      <p:childTnLst>
                        <p:anim dur="500" calcmode="linear" valueType="num">
                          <p:cBhvr>
                            <p:cTn id="11" dur="500"/>
                            <p:tgtEl>
                              <p:spTgt spid="2"/>
                            </p:tgtEl>
                            <p:attrNameLst>
                              <p:attrName>style.opacity</p:attrName>
                            </p:attrNameLst>
                          </p:cBhvr>
                          <p:tavLst>
                            <p:tav tm="0">
                              <p:val>
                                <p:numVal val="0"/>
                              </p:val>
                            </p:tav>
                            <p:tav tm="100000">
                              <p:val>
                                <p:numVal val="1"/>
                              </p:val>
                            </p:tav>
                          </p:tavLst>
                        </p:anim>
                        <p:set>
                          <p:cBhvr>
                            <p:cTn id="12" dur="1" fill="hold"/>
                            <p:tgtEl>
                              <p:spTgt spid="2"/>
                            </p:tgtEl>
                            <p:attrNameLst>
                              <p:attrName>style.visibility</p:attrName>
                            </p:attrNameLst>
                          </p:cBhvr>
                          <p:to>
                            <p:strVal val="visible"/>
                          </p:to>
                        </p:set>
                      </p:childTnLst>
                    </p:cTn>
                  </p:par>
                  <p:par>
                    <p:cTn id="20" fill="hold" nodeType="clickEffect">
                      <p:stCondLst>
                        <p:cond evt="onBegin" delay="0"/>
                      </p:stCondLst>
                      <p:childTnLst>
                        <p:anim dur="500" calcmode="linear" valueType="num">
                          <p:cBhvr>
                            <p:cTn id="21" dur="500"/>
                            <p:tgtEl>
                              <p:spTgt spid="3"/>
                            </p:tgtEl>
                            <p:attrNameLst>
                              <p:attrName>style.opacity</p:attrName>
                            </p:attrNameLst>
                          </p:cBhvr>
                          <p:tavLst>
                            <p:tav tm="0">
                              <p:val>
                                <p:numVal val="0"/>
                              </p:val>
                            </p:tav>
                            <p:tav tm="100000">
                              <p:val>
                                <p:numVal val="1"/>
                              </p:val>
                            </p:tav>
                          </p:tavLst>
                        </p:anim>
                        <p:set>
                          <p:cBhvr>
                            <p:cTn id="22" dur="1" fill="hold"/>
                            <p:tgtEl>
                              <p:spTgt spid="3"/>
                            </p:tgtEl>
                            <p:attrNameLst>
                              <p:attrName>style.visibility</p:attrName>
                            </p:attrNameLst>
                          </p:cBhvr>
                          <p:to>
                            <p:strVal val="visible"/>
                          </p:to>
                        </p:set>
                      </p:childTnLst>
                    </p:cTn>
                  </p:par>
                  <p:par>
                    <p:cTn id="30" fill="hold" nodeType="clickEffect">
                      <p:stCondLst>
                        <p:cond evt="onBegin" delay="0"/>
                      </p:stCondLst>
                      <p:childTnLst>
                        <p:anim dur="500" calcmode="linear" valueType="num">
                          <p:cBhvr>
                            <p:cTn id="31" dur="500"/>
                            <p:tgtEl>
                              <p:spTgt spid="5"/>
                            </p:tgtEl>
                            <p:attrNameLst>
                              <p:attrName>style.opacity</p:attrName>
                            </p:attrNameLst>
                          </p:cBhvr>
                          <p:tavLst>
                            <p:tav tm="0">
                              <p:val>
                                <p:numVal val="0"/>
                              </p:val>
                            </p:tav>
                            <p:tav tm="100000">
                              <p:val>
                                <p:numVal val="1"/>
                              </p:val>
                            </p:tav>
                          </p:tavLst>
                        </p:anim>
                        <p:set>
                          <p:cBhvr>
                            <p:cTn id="32" dur="1" fill="hold"/>
                            <p:tgtEl>
                              <p:spTgt spid="5"/>
                            </p:tgtEl>
                            <p:attrNameLst>
                              <p:attrName>style.visibility</p:attrName>
                            </p:attrNameLst>
                          </p:cBhvr>
                          <p:to>
                            <p:strVal val="visible"/>
                          </p:to>
                        </p:set>
                      </p:childTnLst>
                    </p:cTn>
                  </p:par>
                  <p:par>
                    <p:cTn id="40" fill="hold" nodeType="clickEffect">
                      <p:stCondLst>
                        <p:cond evt="onBegin" delay="0"/>
                      </p:stCondLst>
                      <p:childTnLst>
                        <p:anim dur="500" calcmode="linear" valueType="num">
                          <p:cBhvr>
                            <p:cTn id="41" dur="500"/>
                            <p:tgtEl>
                              <p:spTgt spid="4"/>
                            </p:tgtEl>
                            <p:attrNameLst>
                              <p:attrName>style.opacity</p:attrName>
                            </p:attrNameLst>
                          </p:cBhvr>
                          <p:tavLst>
                            <p:tav tm="0">
                              <p:val>
                                <p:numVal val="0"/>
                              </p:val>
                            </p:tav>
                            <p:tav tm="100000">
                              <p:val>
                                <p:numVal val="1"/>
                              </p:val>
                            </p:tav>
                          </p:tavLst>
                        </p:anim>
                        <p:set>
                          <p:cBhvr>
                            <p:cTn id="42" dur="1" fill="hold"/>
                            <p:tgtEl>
                              <p:spTgt spid="4"/>
                            </p:tgtEl>
                            <p:attrNameLst>
                              <p:attrName>style.visibility</p:attrName>
                            </p:attrNameLst>
                          </p:cBhvr>
                          <p:to>
                            <p:strVal val="visible"/>
                          </p:to>
                        </p:set>
                      </p:childTnLst>
                    </p:cTn>
                  </p:par>
                </p:childTnLst>
              </p:cTn>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F766E"/>
      </a:hlink>
      <a:folHlink>
        <a:srgbClr val="0F766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