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45309"/>
                </a:solidFill>
                <a:latin typeface="Arial"/>
              </a:defRPr>
            </a:pPr>
            <a:r>
              <a:t>AULA 09: RESULTADOS E APRESENTAÇÃO DE DADOS (IBGE VS ABNT)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Diferenciação técnica entre Tabelas (IBGE 1993) e Quadros (ABNT NBR 14724)\nCurso: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Arial"/>
              </a:defRPr>
            </a:pPr>
            <a:r>
              <a:t>Pedro Henrique Rocha de Andrade</a:t>
            </a:r>
          </a:p>
          <a:p>
            <a:pPr>
              <a:defRPr sz="1200">
                <a:solidFill>
                  <a:srgbClr val="6D28D9"/>
                </a:solidFill>
              </a:defRPr>
            </a:pPr>
            <a:r>
              <a:t>Instituto Federal Fluminense (IFF) — Campus Bom Jesus do Itabapoana\nCurso: LaTeX e Escrita Acadêmica</a:t>
            </a:r>
          </a:p>
        </p:txBody>
      </p:sp>
      <p:pic>
        <p:nvPicPr>
          <p:cNvPr id="5" name="Picture 4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O Capítulo de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O capítulo de "Resultados" (frequentemente agrupado como "Resultados e Discussão", embora a divisão seja a preferida em pesquisas experimentais exatas) é o destino final e razão de existir de toda a argumentação da pesquisa.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Para que os resultados possuam clareza e credibilidade, os dados devem ser apresentados em um formato visual estruturado e padronizado. Na escrita acadêmica brasileira (e exigido pelo `ifftese` no LaTeX), há uma forte distinção formal entre a exibição de dados estatísticos/numéricos e a exibição de conteúdos qualitativos e textuais. Esta separação é baseada conjuntamente na NBR 14724 da ABNT e nas normas de apresentação tabular do IBGE.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A Confusão Histórica: Tabelas vs. Quadros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Muitos alunos iniciantes cometem um erro crasso e frequente nas dissertações: chamam qualquer arranjo de linhas e colunas de "Tabela". Para a norma técnica no Brasil, existem duas classes fundamentais e distintas, com formatações visuais rigorosamente diferentes: as Tabelas (Norma IBGE) e os Quadros (ABNT).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2.1 Tabela (Segundo as Normas de Apresentação Tabular do IBGE, 1993)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**Propósito:** Exibir dados numéricos, estatísticos e matemáticos sujeitos a análise quantitativa. O foco absoluto da tabela é evidenciar as variáveis métricas em suas colunas, facilitando a leitura de séries numéricas contínuas e permitindo comparações rápidas de ordens de grandeza.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**Regras de Formatação Estritas (IBGE 1993):**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A Confusão Histórica: Tabelas vs. Quadros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1.  **Sem Bordas Laterais:** A característica visual mais marcante da Tabela do IBGE é que ela **não possui traços verticais delimitando suas bordas direita e esquerda externas**.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2.  **Sem Grades Internas Completas:** Evita-se fechar células como num tabuleiro da velha. Há traços horizontais demarcando o cabeçalho superior e traços horizontais finalizando a parte inferior da tabela. Traços verticais internos são desencorajados, usados apenas em tabelas imensamente complexas (mas ainda sem borda externa).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3.  **Posição do Título:** O título localiza-se na parte superior, antecedido da palavra Tabela e de seu número de ordem em arábicos (ex: Tabela 1 - Desempenho do Algoritmo Genético).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4.  **Fonte da Informação:** É obrigatório citar a fonte dos dados no rodapé da tabela, mesmo que a fonte seja o próprio autor da pesquisa (ex: Fonte: Elaborado pelo autor (2026)). A fonte deve vir na parte inferior.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A Confusão Histórica: Tabelas vs. Quadros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5.  **Corpo e Cabeçalho:** O cabeçalho deve ser simples, explicando as variáveis (ex: Tempo (ms), Tensão (V), Erro (%)).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2.2 Quadro (ABNT NBR 14724)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**Propósito:** Exibir e sintetizar dados predominantemente qualitativos, textuais, conceitos, classificações, equações alfanuméricas, organogramas comparativos ou strings lógicas de revisão sistemática.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**Regras de Formatação Estritas (ABNT):**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A Confusão Histórica: Tabelas vs. Quadros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1.  **Bordas Completamente Fechadas:** O Quadro é uma "caixa" perfeitamente fechada. Todas as suas bordas externas e as grandes internas (verticais e horizontais) devem estar desenhadas, delimitando perfeitamente as células de texto.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2.  **Identificação:** Assim como a tabela, possui título na parte superior e numeração sequencial (ex: Quadro 1 - Critérios de Inclusão da Revisão Bibliográfica).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3.  **Fonte da Informação:** A fonte deve ser citada no rodapé da figura (ex: Fonte: Adaptado de Silva (2022)).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 Implementação Prática no LaTeX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 classe `ifftese` e pacotes como o `booktabs` (para tabelas de alta qualidade) tratam dessas diferenças estruturais de forma nativa e profissional.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  Para criar **Tabelas** visualmente belas, sem bordas laterais e com espaçamento elegante, utiliza-se quase sempre o pacote `booktabs` com os comandos `\toprule`, `\midrule` e `\bottomrule`, evitando os traços verticais `|` no ambiente `tabular`.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  Para criar **Quadros**, o LaTeX precisa fechar todas as grades. Geralmente usa-se a própria estrutura nativa do `tabular` (ex: `\begin{tabular}{|c|c|c|}`) junto com um ambiente flutuante específico como `\begin{quadro}` (criado no preâmbulo por meio de pacotes de customização ou pela classe da universidade).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Comparativo (Mermaid)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D[Dado a Apresentar] --&gt; E{Numérico/Estatístico?};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E -- Sim (Valores métricos) --&gt; T[Usar TABELA - Norma IBGE];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E -- Não (Textos, Conceitos) --&gt; Q[Usar QUADRO - Norma ABNT];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T --&gt; T1[Laterais ABERTAS \n Sem traços verticais nas bordas];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Comparativo (Mermaid)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T --&gt; T2[Bordas superior e inferior fechadas \n com fios grossos/finos];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Q --&gt; Q1[Laterais FECHADAS \n Grade completa como gradeado];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Q --&gt; Q2[Todas as células delimitadas];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style T fill:#ffccbc,stroke:#d84315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Comparativo (Mermaid)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style Q fill:#c5cae9,stroke:#283593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Estudo de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**O Cenário:** O mestrando João avaliou 3 linguagens de programação diferentes (C, Python e Java) para criptografia embarcada num chip IoT. Ele quer mostrar as vantagens teóricas de cada uma, e também mostrar os resultados medidos de uso de CPU e tempo gasto para criptografar.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**Solução Híbrida e Correta:**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1.  Para exibir os parâmetros conceituais e características operacionais de cada linguagem, João cria o **Quadro 1 - Comparativo qualitativo das linguagens estudadas**. O quadro terá linhas verticais e horizontais fechadas. Nas colunas: "Linguagem", "Tipagem", "Paradigma", "Vantagem no IoT". O conteúdo das células será textual (ex: "Fortemente tipada", "Orientação a objetos").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2.  Para exibir os resultados finais experimentais recolhidos de seus sensores na bancada, ele cria a **Tabela 1 - Desempenho computacional dos algoritmos criptográficos em IoT**. A tabela não terá bordas laterais. As colunas serão: "Linguagem", "Tempo de Execução (ms)", "Uso de CPU (%)", "Consumo Estimado (mW)". O interior será preenchido com números de ponto flutuante, médias e desvio-padrão obtidos do experimento.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6. Exercício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1.  Considere os seguintes dados: O Brasil foi pentacampeão do mundo nos anos de 1958, 1962, 1970, 1994 e 2002. A Itália foi tetracampeã em 1934, 1938, 1982, 2006. A Alemanha tetracampeã em 1954, 1974, 1990, 2014. Você classificaria essa informação visualmente num Quadro ou numa Tabela? Por quê?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2.  No ambiente LaTeX `tabular`, como você declararia as colunas para uma **Tabela** (IBGE) de 3 colunas centralizadas, respeitando a ausência de bordas externas verticais?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3.  E como faria a declaração do mesmo ambiente `tabular` para o **Quadro** (ABNT) com as mesmas 3 colunas centralizadas, de forma que houvesse traços verticais delimitando todas as colunas e bordas externas?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6. Exercício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1.  Considere os seguintes dados: O Brasil foi pentacampeão do mundo nos anos de 1958, 1962, 1970, 1994 e 2002. A Itália foi tetracampeã em 1934, 1938, 1982, 2006. A Alemanha tetracampeã em 1954, 1974, 1990, 2014. Você classificaria essa informação visualmente num Quadro ou numa Tabela? Por quê?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2.  No ambiente LaTeX `tabular`, como você declararia as colunas para uma **Tabela** (IBGE) de 3 colunas centralizadas, respeitando a ausência de bordas externas verticais?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3.  E como faria a declaração do mesmo ambiente `tabular` para o **Quadro** (ABNT) com as mesmas 3 colunas centralizadas, de forma que houvesse traços verticais delimitando todas as colunas e bordas externas?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