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69" r:id="rId9"/>
    <p:sldId id="270" r:id="rId10"/>
    <p:sldId id="271" r:id="rId11"/>
    <p:sldId id="272" r:id="rId12"/>
    <p:sldId id="273" r:id="rId13"/>
    <p:sldId id="274" r:id="rId14"/>
    <p:sldId id="275" r:id="rId15"/>
    <p:sldId id="276" r:id="rId16"/>
    <p:sldId id="277" r:id="rId17"/>
    <p:sldId id="278"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phrandrade.com" TargetMode="External"/><Relationship Id="rId4" Type="http://schemas.openxmlformats.org/officeDocument/2006/relationships/hyperlink" Target="mailto:pedroiff0@gmail.com" TargetMode="Externa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ff_bji_light.png"/>
          <p:cNvPicPr>
            <a:picLocks noChangeAspect="1"/>
          </p:cNvPicPr>
          <p:nvPr/>
        </p:nvPicPr>
        <p:blipFill>
          <a:blip r:embed="rId2"/>
          <a:stretch>
            <a:fillRect/>
          </a:stretch>
        </p:blipFill>
        <p:spPr>
          <a:xfrm>
            <a:off x="731520" y="457200"/>
            <a:ext cx="2316480" cy="868680"/>
          </a:xfrm>
          <a:prstGeom prst="rect">
            <a:avLst/>
          </a:prstGeom>
        </p:spPr>
      </p:pic>
      <p:sp>
        <p:nvSpPr>
          <p:cNvPr id="3" name="TextBox 2"/>
          <p:cNvSpPr txBox="1"/>
          <p:nvPr/>
        </p:nvSpPr>
        <p:spPr>
          <a:xfrm>
            <a:off x="731520" y="1645920"/>
            <a:ext cx="10728655" cy="2286000"/>
          </a:xfrm>
          <a:prstGeom prst="rect">
            <a:avLst/>
          </a:prstGeom>
          <a:noFill/>
        </p:spPr>
        <p:txBody>
          <a:bodyPr wrap="square">
            <a:spAutoFit/>
          </a:bodyPr>
          <a:lstStyle/>
          <a:p>
            <a:pPr>
              <a:defRPr sz="2600" b="1">
                <a:solidFill>
                  <a:srgbClr val="B45309"/>
                </a:solidFill>
                <a:latin typeface="Arial"/>
              </a:defRPr>
            </a:pPr>
            <a:r>
              <a:t>AULA 01: EPISTEMOLOGIA, PROBLEMATIZAÇÃO E HIPÓTESES</a:t>
            </a:r>
          </a:p>
          <a:p>
            <a:pPr>
              <a:defRPr sz="1600">
                <a:solidFill>
                  <a:srgbClr val="15803D"/>
                </a:solidFill>
              </a:defRPr>
            </a:pPr>
            <a:r>
              <a:t>Ruptura epistemológica, Falsificacionismo de Popper e formulação de hipóteses científicas\nCurso: LaTeX e Escrita Acadêmica — Normas ABNT</a:t>
            </a:r>
          </a:p>
        </p:txBody>
      </p:sp>
      <p:sp>
        <p:nvSpPr>
          <p:cNvPr id="4" name="TextBox 3"/>
          <p:cNvSpPr txBox="1"/>
          <p:nvPr/>
        </p:nvSpPr>
        <p:spPr>
          <a:xfrm>
            <a:off x="731520" y="4389120"/>
            <a:ext cx="10728655" cy="1645920"/>
          </a:xfrm>
          <a:prstGeom prst="rect">
            <a:avLst/>
          </a:prstGeom>
          <a:noFill/>
        </p:spPr>
        <p:txBody>
          <a:bodyPr wrap="square">
            <a:spAutoFit/>
          </a:bodyPr>
          <a:lstStyle/>
          <a:p>
            <a:pPr>
              <a:defRPr sz="1400" b="1">
                <a:solidFill>
                  <a:srgbClr val="B45309"/>
                </a:solidFill>
                <a:latin typeface="Arial"/>
              </a:defRPr>
            </a:pPr>
            <a:r>
              <a:t>Pedro Henrique Rocha de Andrade</a:t>
            </a:r>
          </a:p>
          <a:p>
            <a:pPr>
              <a:defRPr sz="1200">
                <a:solidFill>
                  <a:srgbClr val="6D28D9"/>
                </a:solidFill>
              </a:defRPr>
            </a:pPr>
            <a:r>
              <a:t>Instituto Federal Fluminense (IFF) — Campus Bom Jesus do Itabapoana\nCurso: LaTeX e Escrita Acadêmica</a:t>
            </a:r>
          </a:p>
        </p:txBody>
      </p:sp>
      <p:pic>
        <p:nvPicPr>
          <p:cNvPr id="5" name="Picture 4" descr="qrcode_transparente.png"/>
          <p:cNvPicPr>
            <a:picLocks noChangeAspect="1"/>
          </p:cNvPicPr>
          <p:nvPr/>
        </p:nvPicPr>
        <p:blipFill>
          <a:blip r:embed="rId3"/>
          <a:stretch>
            <a:fillRect/>
          </a:stretch>
        </p:blipFill>
        <p:spPr>
          <a:xfrm>
            <a:off x="9601200" y="1371600"/>
            <a:ext cx="1828800" cy="18288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1. Introdução à Epistemologia da Pesquisa</a:t>
            </a:r>
          </a:p>
        </p:txBody>
      </p:sp>
      <p:sp>
        <p:nvSpPr>
          <p:cNvPr id="3" name="Content Placeholder 2"/>
          <p:cNvSpPr>
            <a:spLocks noGrp="1"/>
          </p:cNvSpPr>
          <p:nvPr>
            <p:ph idx="1"/>
          </p:nvPr>
        </p:nvSpPr>
        <p:spPr/>
        <p:txBody>
          <a:bodyPr/>
          <a:lstStyle/>
          <a:p/>
          <a:p>
            <a:pPr>
              <a:defRPr sz="2000">
                <a:solidFill>
                  <a:srgbClr val="15803D"/>
                </a:solidFill>
              </a:defRPr>
            </a:pPr>
            <a:r>
              <a:t>[Importante] A Epistemologia estuda a natureza, a validade e os limites do conhecimento científico. Na elaboração de uma pesquisa acadêmica, a perspectiva epistemológica adotada moldará não apenas a lente teórica sob a qual o objeto de estudo é analisado, mas toda a arquitetura metodológica, desde a coleta de dados até as inferências finais. Trata-se da fundação intelectual de qualquer investigação séria de pós-graduação.</a:t>
            </a:r>
          </a:p>
          <a:p>
            <a:pPr>
              <a:defRPr sz="2000">
                <a:solidFill>
                  <a:srgbClr val="6D28D9"/>
                </a:solidFill>
              </a:defRPr>
            </a:pPr>
            <a:r>
              <a:t>[Prova/Trabalho] O método científico ocidental, historicamente, foi profundamente influenciado por correntes como o racionalismo e o empirismo indutivo. No entanto, o paradigma da verificabilidade constante foi fortemente desafiado por Karl Popper, em meados do século XX.</a:t>
            </a:r>
          </a:p>
          <a:p>
            <a:pPr>
              <a:defRPr sz="2000">
                <a:solidFill>
                  <a:srgbClr val="2563EB"/>
                </a:solidFill>
              </a:defRPr>
            </a:pPr>
            <a:r>
              <a:t>[Vale Lembrar] O Falsificacionismo Popperiano</a:t>
            </a:r>
          </a:p>
          <a:p>
            <a:pPr>
              <a:defRPr sz="2000">
                <a:solidFill>
                  <a:srgbClr val="15803D"/>
                </a:solidFill>
              </a:defRPr>
            </a:pPr>
            <a:r>
              <a:t>[Importante] Segundo Popper, a ciência não avança por meio da verificação irrestrita (a busca obstinada por casos que apenas confirmem uma teoria), mas sim por meio da tentativa ativa e rigorosa de refutação das suas hipóteses. No falsificacionismo, uma teoria só pode ser legitimamente considerada científica se for passível de ser testada e, potencialmente, comprovada como falsa. O foco do pesquisador de alto nível muda: em vez de procurar cegamente o conforto do "viés de confirmação", elaboram-se testes severos de refutação.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A Centralidade da Problematização</a:t>
            </a:r>
          </a:p>
        </p:txBody>
      </p:sp>
      <p:sp>
        <p:nvSpPr>
          <p:cNvPr id="3" name="Content Placeholder 2"/>
          <p:cNvSpPr>
            <a:spLocks noGrp="1"/>
          </p:cNvSpPr>
          <p:nvPr>
            <p:ph idx="1"/>
          </p:nvPr>
        </p:nvSpPr>
        <p:spPr/>
        <p:txBody>
          <a:bodyPr/>
          <a:lstStyle/>
          <a:p/>
          <a:p>
            <a:pPr>
              <a:defRPr sz="2000">
                <a:solidFill>
                  <a:srgbClr val="15803D"/>
                </a:solidFill>
              </a:defRPr>
            </a:pPr>
            <a:r>
              <a:t>[Importante] Nenhuma pesquisa científica verdadeira tem origem no vácuo. Ela emerge impreterivelmente da identificação meticulosa de um problema para o qual não há, até o momento, uma resposta trivial ou consensualmente aceita no estado da arte. A problematização é o ato inquisitório primário. Trata-se de questionar a realidade empírica, a teoria prevalente, ou os procedimentos consolidados para extrair dali uma dúvida passível de investigação sistemática.</a:t>
            </a:r>
          </a:p>
          <a:p>
            <a:pPr>
              <a:defRPr sz="2000">
                <a:solidFill>
                  <a:srgbClr val="2563EB"/>
                </a:solidFill>
              </a:defRPr>
            </a:pPr>
            <a:r>
              <a:t>[Vale Lembrar] Critérios de um Problema de Pesquisa Eficaz</a:t>
            </a:r>
          </a:p>
          <a:p>
            <a:pPr>
              <a:defRPr sz="2000">
                <a:solidFill>
                  <a:srgbClr val="0F172A"/>
                </a:solidFill>
              </a:defRPr>
            </a:pPr>
            <a:r>
              <a:t>Para que uma pergunta seja academicamente viável, ela deve atender a características rigorosas:</a:t>
            </a:r>
          </a:p>
          <a:p>
            <a:pPr>
              <a:defRPr sz="2000">
                <a:solidFill>
                  <a:srgbClr val="15803D"/>
                </a:solidFill>
              </a:defRPr>
            </a:pPr>
            <a:r>
              <a:t>[Importante] **Clareza e Exatidão:** Não pode haver espaço para ambiguidade conceitual em seus termos, exigindo, muitas vezes, que os conceitos principais sejam exaustivamente definidos na introdução do projeto de pesquisa.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2. A Centralidade da Problematização (Cont.)</a:t>
            </a:r>
          </a:p>
        </p:txBody>
      </p:sp>
      <p:sp>
        <p:nvSpPr>
          <p:cNvPr id="3" name="Content Placeholder 2"/>
          <p:cNvSpPr>
            <a:spLocks noGrp="1"/>
          </p:cNvSpPr>
          <p:nvPr>
            <p:ph idx="1"/>
          </p:nvPr>
        </p:nvSpPr>
        <p:spPr/>
        <p:txBody>
          <a:bodyPr/>
          <a:lstStyle/>
          <a:p/>
          <a:p>
            <a:pPr>
              <a:defRPr sz="2000">
                <a:solidFill>
                  <a:srgbClr val="15803D"/>
                </a:solidFill>
              </a:defRPr>
            </a:pPr>
            <a:r>
              <a:t>[Importante] **Testabilidade Empírica ou Lógica:** A resposta procurada deve repousar sobre bases que possam ser avaliadas via dados (qualitativos ou quantitativos). Questões meramente valorativas ou puramente morais, sem um componente de análise sistemática, geralmente escapam ao rigor metodológico.</a:t>
            </a:r>
          </a:p>
          <a:p>
            <a:pPr>
              <a:defRPr sz="2000">
                <a:solidFill>
                  <a:srgbClr val="6D28D9"/>
                </a:solidFill>
              </a:defRPr>
            </a:pPr>
            <a:r>
              <a:t>[Prova/Trabalho] **Originalidade e Pertinência (Relevância):** Deve atacar ativamente uma lacuna do conhecimento já previamente diagnosticada na revisão de literatura.</a:t>
            </a:r>
          </a:p>
          <a:p>
            <a:pPr>
              <a:defRPr sz="2000">
                <a:solidFill>
                  <a:srgbClr val="0F172A"/>
                </a:solidFill>
              </a:defRPr>
            </a:pPr>
            <a:r>
              <a:t>**Fato versus Problema Científico:** Uma distinção crucial. Um "fato" é, por exemplo, a constatação de que um determinado compilador atrasa sob carga pesada de processamento (algo que já se sabe). O "problema científico" seria investigar *quais os gargalos algorítmicos específicos* na hierarquia de memória ou *como a reestruturação da alocação via GPU impactaria essa métrica*.</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3. Hipóteses: Respostas Provisórias Estruturadas</a:t>
            </a:r>
          </a:p>
        </p:txBody>
      </p:sp>
      <p:sp>
        <p:nvSpPr>
          <p:cNvPr id="3" name="Content Placeholder 2"/>
          <p:cNvSpPr>
            <a:spLocks noGrp="1"/>
          </p:cNvSpPr>
          <p:nvPr>
            <p:ph idx="1"/>
          </p:nvPr>
        </p:nvSpPr>
        <p:spPr/>
        <p:txBody>
          <a:bodyPr/>
          <a:lstStyle/>
          <a:p/>
          <a:p>
            <a:pPr>
              <a:defRPr sz="2000">
                <a:solidFill>
                  <a:srgbClr val="15803D"/>
                </a:solidFill>
              </a:defRPr>
            </a:pPr>
            <a:r>
              <a:t>[Importante] A hipótese é a conjectura ou explicação antecipada, formulada rigorosamente para responder provisoriamente à pergunta de pesquisa estabelecida na problematização. As hipóteses científicas devem ser testáveis, claras, e como defendido pela epistemologia de Popper, falsificáveis.</a:t>
            </a:r>
          </a:p>
          <a:p>
            <a:pPr>
              <a:defRPr sz="2000">
                <a:solidFill>
                  <a:srgbClr val="6D28D9"/>
                </a:solidFill>
              </a:defRPr>
            </a:pPr>
            <a:r>
              <a:t>[Prova/Trabalho] Na tradição quantitativa, é comum a operacionalização de pares de hipóteses:</a:t>
            </a:r>
          </a:p>
          <a:p>
            <a:pPr>
              <a:defRPr sz="2000">
                <a:solidFill>
                  <a:srgbClr val="0F172A"/>
                </a:solidFill>
              </a:defRPr>
            </a:pPr>
            <a:r>
              <a:t>**Hipótese Nula ($H_0$):** Estabelece que as variáveis, fenômenos ou tratamentos avaliados não apresentam relação, diferença ou impacto estatisticamente significativo entre si. Representa, metodologicamente, o "ceticismo inicial" padrão.</a:t>
            </a:r>
          </a:p>
          <a:p>
            <a:pPr>
              <a:defRPr sz="2000">
                <a:solidFill>
                  <a:srgbClr val="15803D"/>
                </a:solidFill>
              </a:defRPr>
            </a:pPr>
            <a:r>
              <a:t>[Importante] **Hipótese Alternativa ($H_1$):** É a hipótese que o pesquisador, baseado em sólida teoria e intuição fundamentada, geralmente espera que os dados sustentem. Afirma a existência de efeitos, relações, correlações ou impactos significativos. O trabalho científico é, na prática das ciências exatas, quase sempre uma tentativa de providenciar substrato estatístico suficientemente robusto para "rejeitar a hipótese nula", suportando, por corolário de exclusão, a alternativa (sempre recordando o princípio da provisoriedade do conhecimento científico).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4. Diagrama: A Arquitetura e o Ciclo Lógico da Pesquisa (Mermaid)</a:t>
            </a:r>
          </a:p>
        </p:txBody>
      </p:sp>
      <p:sp>
        <p:nvSpPr>
          <p:cNvPr id="3" name="Content Placeholder 2"/>
          <p:cNvSpPr>
            <a:spLocks noGrp="1"/>
          </p:cNvSpPr>
          <p:nvPr>
            <p:ph idx="1"/>
          </p:nvPr>
        </p:nvSpPr>
        <p:spPr/>
        <p:txBody>
          <a:bodyPr/>
          <a:lstStyle/>
          <a:p/>
          <a:p>
            <a:pPr>
              <a:defRPr sz="2000">
                <a:solidFill>
                  <a:srgbClr val="15803D"/>
                </a:solidFill>
              </a:defRPr>
            </a:pPr>
            <a:r>
              <a:t>[Importante] A[Observação Crítica da Realidade e Estado da Arte] --&gt; B[Identificação do Research Gap / Lacuna de Conhecimento]</a:t>
            </a:r>
          </a:p>
          <a:p>
            <a:pPr>
              <a:defRPr sz="2000">
                <a:solidFill>
                  <a:srgbClr val="6D28D9"/>
                </a:solidFill>
              </a:defRPr>
            </a:pPr>
            <a:r>
              <a:t>[Prova/Trabalho] B --&gt; C[Formulação Rigorosa do Problema de Pesquisa]</a:t>
            </a:r>
          </a:p>
          <a:p>
            <a:pPr>
              <a:defRPr sz="2000">
                <a:solidFill>
                  <a:srgbClr val="0F172A"/>
                </a:solidFill>
              </a:defRPr>
            </a:pPr>
            <a:r>
              <a:t>C --&gt; D{A pergunta atende a critérios de testabilidade empírica?}</a:t>
            </a:r>
          </a:p>
          <a:p>
            <a:pPr>
              <a:defRPr sz="2000">
                <a:solidFill>
                  <a:srgbClr val="15803D"/>
                </a:solidFill>
              </a:defRPr>
            </a:pPr>
            <a:r>
              <a:t>[Importante] D -- Sim --&gt; E[Formulação da Estrutura Hipotética H0 e H1]</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4. Diagrama: A Arquitetura e o Ciclo Lógico da Pesquisa (Mermaid) (Cont.)</a:t>
            </a:r>
          </a:p>
        </p:txBody>
      </p:sp>
      <p:sp>
        <p:nvSpPr>
          <p:cNvPr id="3" name="Content Placeholder 2"/>
          <p:cNvSpPr>
            <a:spLocks noGrp="1"/>
          </p:cNvSpPr>
          <p:nvPr>
            <p:ph idx="1"/>
          </p:nvPr>
        </p:nvSpPr>
        <p:spPr/>
        <p:txBody>
          <a:bodyPr/>
          <a:lstStyle/>
          <a:p/>
          <a:p>
            <a:pPr>
              <a:defRPr sz="2000">
                <a:solidFill>
                  <a:srgbClr val="15803D"/>
                </a:solidFill>
              </a:defRPr>
            </a:pPr>
            <a:r>
              <a:t>[Importante] D -- Não --&gt; C</a:t>
            </a:r>
          </a:p>
          <a:p>
            <a:pPr>
              <a:defRPr sz="2000">
                <a:solidFill>
                  <a:srgbClr val="6D28D9"/>
                </a:solidFill>
              </a:defRPr>
            </a:pPr>
            <a:r>
              <a:t>[Prova/Trabalho] E --&gt; F[Desenho do Teste Experimental / Testagem Empírica Rigorosa]</a:t>
            </a:r>
          </a:p>
          <a:p>
            <a:pPr>
              <a:defRPr sz="2000">
                <a:solidFill>
                  <a:srgbClr val="0F172A"/>
                </a:solidFill>
              </a:defRPr>
            </a:pPr>
            <a:r>
              <a:t>F --&gt; G{A evidência foi suficiente para refutar H0 e corroborar temporariamente H1?}</a:t>
            </a:r>
          </a:p>
          <a:p>
            <a:pPr>
              <a:defRPr sz="2000">
                <a:solidFill>
                  <a:srgbClr val="15803D"/>
                </a:solidFill>
              </a:defRPr>
            </a:pPr>
            <a:r>
              <a:t>[Importante] G -- Sim, Evidência Sólida --&gt; H[Publicação, Novos Conhecimentos e Formulação de Novas Questões]</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4. Diagrama: A Arquitetura e o Ciclo Lógico da Pesquisa (Mermaid) (Cont.)</a:t>
            </a:r>
          </a:p>
        </p:txBody>
      </p:sp>
      <p:sp>
        <p:nvSpPr>
          <p:cNvPr id="3" name="Content Placeholder 2"/>
          <p:cNvSpPr>
            <a:spLocks noGrp="1"/>
          </p:cNvSpPr>
          <p:nvPr>
            <p:ph idx="1"/>
          </p:nvPr>
        </p:nvSpPr>
        <p:spPr/>
        <p:txBody>
          <a:bodyPr/>
          <a:lstStyle/>
          <a:p/>
          <a:p>
            <a:pPr>
              <a:defRPr sz="2000">
                <a:solidFill>
                  <a:srgbClr val="15803D"/>
                </a:solidFill>
              </a:defRPr>
            </a:pPr>
            <a:r>
              <a:t>[Importante] G -- Não, Hipótese Falsificada --&gt; I[Revisão Fundamental da Teoria ou das Premissas Metodológicas, Nova Proposição]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5. Estudo de Caso (Use Case Real e Detalhado)</a:t>
            </a:r>
          </a:p>
        </p:txBody>
      </p:sp>
      <p:sp>
        <p:nvSpPr>
          <p:cNvPr id="3" name="Content Placeholder 2"/>
          <p:cNvSpPr>
            <a:spLocks noGrp="1"/>
          </p:cNvSpPr>
          <p:nvPr>
            <p:ph idx="1"/>
          </p:nvPr>
        </p:nvSpPr>
        <p:spPr/>
        <p:txBody>
          <a:bodyPr/>
          <a:lstStyle/>
          <a:p/>
          <a:p>
            <a:pPr>
              <a:defRPr sz="2000">
                <a:solidFill>
                  <a:srgbClr val="15803D"/>
                </a:solidFill>
              </a:defRPr>
            </a:pPr>
            <a:r>
              <a:t>[Importante] **Contexto da Investigação:** A produção massiva de dissertações de mestrado em áreas STEM frequentemente exige a composição de diagramas técnicos de alta precisão vetorial (via linguagem TikZ/PGFPlots) embutidos em documentos LaTeX que muitas vezes ultrapassam as 200 páginas. O compilador padrão pdfLaTeX apresenta um limite de alocação de memória restrito (`main_memory`), o qual ocasionalmente resulta em exaustão e erros irreversíveis de compilação sem intervenção complexa (como expansão dos limites do `texmf.cnf`).</a:t>
            </a:r>
          </a:p>
          <a:p>
            <a:pPr>
              <a:defRPr sz="2000">
                <a:solidFill>
                  <a:srgbClr val="6D28D9"/>
                </a:solidFill>
              </a:defRPr>
            </a:pPr>
            <a:r>
              <a:t>[Prova/Trabalho] **Problema de Pesquisa Estruturado:** "De que forma e em que magnitude a adoção do compilador LuaLaTeX — que possui alocação dinâmica e arquitetura robustecida de memória — em detrimento do pdfLaTeX tradicional impacta positivamente o tempo total de compilação e a estabilidade na geração do arquivo PDF final, especificamente para teses contendo mais de mil nodos complexos de processamento gráfico gerados dinamicamente?"</a:t>
            </a:r>
          </a:p>
          <a:p>
            <a:pPr>
              <a:defRPr sz="2000">
                <a:solidFill>
                  <a:srgbClr val="0F172A"/>
                </a:solidFill>
              </a:defRPr>
            </a:pPr>
            <a:r>
              <a:t>**Hipóteses Operacionalizadas:**</a:t>
            </a:r>
          </a:p>
          <a:p>
            <a:pPr>
              <a:defRPr sz="2000">
                <a:solidFill>
                  <a:srgbClr val="15803D"/>
                </a:solidFill>
              </a:defRPr>
            </a:pPr>
            <a:r>
              <a:t>[Importante] **$H_0$ (Hipótese Nula):** A substituição do pdfLaTeX pelo LuaLaTeX não resultará em variação estatisticamente significativa no tempo médio de compilação nem minimizará as falhas de _buffer overload_, dada a carga intrínseca do parser nativo do sistema TeX.</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5. Estudo de Caso (Use Case Real e Detalhado) (Cont.)</a:t>
            </a:r>
          </a:p>
        </p:txBody>
      </p:sp>
      <p:sp>
        <p:nvSpPr>
          <p:cNvPr id="3" name="Content Placeholder 2"/>
          <p:cNvSpPr>
            <a:spLocks noGrp="1"/>
          </p:cNvSpPr>
          <p:nvPr>
            <p:ph idx="1"/>
          </p:nvPr>
        </p:nvSpPr>
        <p:spPr/>
        <p:txBody>
          <a:bodyPr/>
          <a:lstStyle/>
          <a:p/>
          <a:p>
            <a:pPr>
              <a:defRPr sz="2000">
                <a:solidFill>
                  <a:srgbClr val="15803D"/>
                </a:solidFill>
              </a:defRPr>
            </a:pPr>
            <a:r>
              <a:t>[Importante] **$H_1$ (Hipótese Alternativa):** A implementação do LuaLaTeX reduzirá o tempo total de compilação em pelo menos 25% (estabelecendo uma métrica mensurável) e extinguirá os erros de alocação de memória, devido ao gerenciamento avançado e não-limitado via memória swap do sistema hospedeiro.</a:t>
            </a:r>
          </a:p>
          <a:p>
            <a:pPr>
              <a:defRPr sz="2000">
                <a:solidFill>
                  <a:srgbClr val="6D28D9"/>
                </a:solidFill>
              </a:defRPr>
            </a:pPr>
            <a:r>
              <a:t>[Prova/Trabalho] **Contexto Epistemológico Associado:** A abordagem emprega indubitavelmente uma ótica positivista quantitativa e determinística, amparada por aferições empíricas metrificadas objetivamente em ciclos de clock, tempo em segundos e análise de logs do _stdout_ do processo de compilação.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solidFill>
                  <a:srgbClr val="B45309"/>
                </a:solidFill>
              </a:defRPr>
            </a:pPr>
            <a:r>
              <a:t>6. Exercício Prático Estruturado</a:t>
            </a:r>
          </a:p>
        </p:txBody>
      </p:sp>
      <p:sp>
        <p:nvSpPr>
          <p:cNvPr id="3" name="Content Placeholder 2"/>
          <p:cNvSpPr>
            <a:spLocks noGrp="1"/>
          </p:cNvSpPr>
          <p:nvPr>
            <p:ph idx="1"/>
          </p:nvPr>
        </p:nvSpPr>
        <p:spPr/>
        <p:txBody>
          <a:bodyPr/>
          <a:lstStyle/>
          <a:p/>
          <a:p>
            <a:pPr>
              <a:defRPr sz="2000">
                <a:solidFill>
                  <a:srgbClr val="15803D"/>
                </a:solidFill>
              </a:defRPr>
            </a:pPr>
            <a:r>
              <a:t>[Importante] Instruções para o aluno (Tempo estimado para resolução, em grupo: 30 minutos):</a:t>
            </a:r>
          </a:p>
          <a:p>
            <a:pPr>
              <a:defRPr sz="2000">
                <a:solidFill>
                  <a:srgbClr val="6D28D9"/>
                </a:solidFill>
              </a:defRPr>
            </a:pPr>
            <a:r>
              <a:t>[Prova/Trabalho] 1. Defina um problema de pesquisa claro, originário de sua atual área de investigação de tese ou dissertação. Assegure que as variáveis nele propostas sejam passíveis de quantificação ou averiguação empírica rigorosa.</a:t>
            </a:r>
          </a:p>
          <a:p>
            <a:pPr>
              <a:defRPr sz="2000">
                <a:solidFill>
                  <a:srgbClr val="0F172A"/>
                </a:solidFill>
              </a:defRPr>
            </a:pPr>
            <a:r>
              <a:t>2. Construa textualmente, seguindo os preceitos de precisão linguística abordados, a Hipótese Nula ($H_0$) e a Hipótese Alternativa ($H_1$) correlatas ao seu problema de pesquisa.</a:t>
            </a:r>
          </a:p>
          <a:p>
            <a:pPr>
              <a:defRPr sz="2000">
                <a:solidFill>
                  <a:srgbClr val="15803D"/>
                </a:solidFill>
              </a:defRPr>
            </a:pPr>
            <a:r>
              <a:t>[Importante] 3. Descreva em um parágrafo denso: como os princípios estritos do Falsificacionismo Popperiano poderiam ser mobilizados na tentativa deliberada e metódica de encontrar vulnerabilidades lógicas na testagem da sua hipótese de pesquisa (H1), fortalecendo, pela resiliência, a robustez da validação?</a:t>
            </a:r>
          </a:p>
        </p:txBody>
      </p:sp>
      <p:pic>
        <p:nvPicPr>
          <p:cNvPr id="4" name="Picture 3" descr="image.png"/>
          <p:cNvPicPr>
            <a:picLocks noChangeAspect="1"/>
          </p:cNvPicPr>
          <p:nvPr/>
        </p:nvPicPr>
        <p:blipFill>
          <a:blip r:embed="rId2"/>
          <a:stretch>
            <a:fillRect/>
          </a:stretch>
        </p:blipFill>
        <p:spPr>
          <a:xfrm>
            <a:off x="457200" y="73152"/>
            <a:ext cx="2103120" cy="777240"/>
          </a:xfrm>
          <a:prstGeom prst="rect">
            <a:avLst/>
          </a:prstGeom>
        </p:spPr>
      </p:pic>
      <p:sp>
        <p:nvSpPr>
          <p:cNvPr id="5" name="TextBox 4"/>
          <p:cNvSpPr txBox="1"/>
          <p:nvPr/>
        </p:nvSpPr>
        <p:spPr>
          <a:xfrm>
            <a:off x="10972800" y="6400800"/>
            <a:ext cx="914400" cy="457200"/>
          </a:xfrm>
          <a:prstGeom prst="rect">
            <a:avLst/>
          </a:prstGeom>
          <a:noFill/>
        </p:spPr>
        <p:txBody>
          <a:bodyPr wrap="none">
            <a:spAutoFit/>
          </a:bodyPr>
          <a:lstStyle/>
          <a:p>
            <a:pPr>
              <a:defRPr sz="1200">
                <a:solidFill>
                  <a:srgbClr val="6D28D9"/>
                </a:solidFill>
              </a:defRPr>
            </a:pPr>
            <a: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67512" y="594360"/>
            <a:ext cx="3749039" cy="1828800"/>
          </a:xfrm>
          <a:prstGeom prst="rect">
            <a:avLst/>
          </a:prstGeom>
          <a:noFill/>
        </p:spPr>
        <p:txBody>
          <a:bodyPr wrap="square" lIns="0" tIns="0" rIns="0" bIns="0">
            <a:spAutoFit/>
          </a:bodyPr>
          <a:lstStyle/>
          <a:p>
            <a:pPr>
              <a:spcAft>
                <a:spcPts val="800"/>
              </a:spcAft>
              <a:defRPr sz="3600" b="1">
                <a:solidFill>
                  <a:srgbClr val="00923F"/>
                </a:solidFill>
                <a:latin typeface="Arial"/>
              </a:defRPr>
            </a:pPr>
            <a:r>
              <a:t>Obrigado!</a:t>
            </a:r>
          </a:p>
          <a:p>
            <a:pPr>
              <a:defRPr sz="3200" b="1">
                <a:solidFill>
                  <a:srgbClr val="1E293B"/>
                </a:solidFill>
                <a:latin typeface="Arial"/>
              </a:defRPr>
            </a:pPr>
            <a:r>
              <a:t>Dúvidas?</a:t>
            </a:r>
          </a:p>
        </p:txBody>
      </p:sp>
      <p:sp>
        <p:nvSpPr>
          <p:cNvPr id="3" name="TextBox 2"/>
          <p:cNvSpPr txBox="1"/>
          <p:nvPr/>
        </p:nvSpPr>
        <p:spPr>
          <a:xfrm>
            <a:off x="640080" y="2852928"/>
            <a:ext cx="4937760" cy="1188720"/>
          </a:xfrm>
          <a:prstGeom prst="rect">
            <a:avLst/>
          </a:prstGeom>
          <a:noFill/>
        </p:spPr>
        <p:txBody>
          <a:bodyPr wrap="square" lIns="0" tIns="0" rIns="0" bIns="0">
            <a:spAutoFit/>
          </a:bodyPr>
          <a:lstStyle/>
          <a:p>
            <a:pPr>
              <a:spcAft>
                <a:spcPts val="800"/>
              </a:spcAft>
              <a:defRPr sz="2200" b="1">
                <a:solidFill>
                  <a:srgbClr val="1E293B"/>
                </a:solidFill>
                <a:latin typeface="Arial"/>
              </a:defRPr>
            </a:pPr>
            <a:r>
              <a:t>Pedro H. R. de Andrade</a:t>
            </a:r>
          </a:p>
          <a:p>
            <a:pPr>
              <a:defRPr sz="1600">
                <a:solidFill>
                  <a:srgbClr val="00923F"/>
                </a:solidFill>
                <a:latin typeface="Arial"/>
              </a:defRPr>
            </a:pPr>
            <a:r>
              <a:t>E-mail: pedroiff0@gmail.com</a:t>
            </a:r>
          </a:p>
        </p:txBody>
      </p:sp>
      <p:pic>
        <p:nvPicPr>
          <p:cNvPr id="4" name="Picture 3" descr="cosmic_qrcode_transparente_preto.png"/>
          <p:cNvPicPr>
            <a:picLocks noChangeAspect="1"/>
          </p:cNvPicPr>
          <p:nvPr/>
        </p:nvPicPr>
        <p:blipFill>
          <a:blip r:embed="rId2"/>
          <a:stretch>
            <a:fillRect/>
          </a:stretch>
        </p:blipFill>
        <p:spPr>
          <a:xfrm>
            <a:off x="5632704" y="0"/>
            <a:ext cx="6583680" cy="6583680"/>
          </a:xfrm>
          <a:prstGeom prst="rect">
            <a:avLst/>
          </a:prstGeom>
        </p:spPr>
      </p:pic>
      <p:sp>
        <p:nvSpPr>
          <p:cNvPr id="5" name="TextBox 4"/>
          <p:cNvSpPr txBox="1"/>
          <p:nvPr/>
        </p:nvSpPr>
        <p:spPr>
          <a:xfrm>
            <a:off x="6318504" y="6126480"/>
            <a:ext cx="5212080" cy="438912"/>
          </a:xfrm>
          <a:prstGeom prst="rect">
            <a:avLst/>
          </a:prstGeom>
          <a:noFill/>
        </p:spPr>
        <p:txBody>
          <a:bodyPr wrap="square" lIns="0" tIns="0" rIns="0" bIns="0">
            <a:spAutoFit/>
          </a:bodyPr>
          <a:lstStyle/>
          <a:p>
            <a:pPr algn="ctr"/>
            <a:r>
              <a:rPr sz="1400" i="1">
                <a:solidFill>
                  <a:srgbClr val="00923F"/>
                </a:solidFill>
                <a:latin typeface="Arial"/>
                <a:hlinkClick r:id="rId3"/>
              </a:rPr>
              <a:t>www.phrandrade.com</a:t>
            </a:r>
          </a:p>
        </p:txBody>
      </p:sp>
      <p:sp>
        <p:nvSpPr>
          <p:cNvPr id="6" name="Rectangle 5"/>
          <p:cNvSpPr/>
          <p:nvPr/>
        </p:nvSpPr>
        <p:spPr>
          <a:xfrm>
            <a:off x="0" y="6583680"/>
            <a:ext cx="12191695" cy="9144"/>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620256"/>
            <a:ext cx="3657600" cy="182880"/>
          </a:xfrm>
          <a:prstGeom prst="rect">
            <a:avLst/>
          </a:prstGeom>
          <a:noFill/>
        </p:spPr>
        <p:txBody>
          <a:bodyPr wrap="none" lIns="0" tIns="0" rIns="0" bIns="0">
            <a:spAutoFit/>
          </a:bodyPr>
          <a:lstStyle/>
          <a:p>
            <a:r>
              <a:rPr sz="900">
                <a:solidFill>
                  <a:srgbClr val="1E293B"/>
                </a:solidFill>
                <a:latin typeface="Arial"/>
                <a:hlinkClick r:id="rId4"/>
              </a:rPr>
              <a:t>Pedro H. R. de Andrade</a:t>
            </a:r>
          </a:p>
        </p:txBody>
      </p:sp>
      <p:sp>
        <p:nvSpPr>
          <p:cNvPr id="8" name="TextBox 7"/>
          <p:cNvSpPr txBox="1"/>
          <p:nvPr/>
        </p:nvSpPr>
        <p:spPr>
          <a:xfrm>
            <a:off x="3809847" y="6620256"/>
            <a:ext cx="4572000" cy="182880"/>
          </a:xfrm>
          <a:prstGeom prst="rect">
            <a:avLst/>
          </a:prstGeom>
          <a:noFill/>
        </p:spPr>
        <p:txBody>
          <a:bodyPr wrap="none" lIns="0" tIns="0" rIns="0" bIns="0">
            <a:spAutoFit/>
          </a:bodyPr>
          <a:lstStyle/>
          <a:p>
            <a:pPr algn="ctr"/>
            <a:r>
              <a:rPr sz="900">
                <a:solidFill>
                  <a:srgbClr val="1E293B"/>
                </a:solidFill>
                <a:latin typeface="Arial"/>
              </a:rPr>
              <a:t>IFF Bom Jesus do Itabapoana</a:t>
            </a:r>
          </a:p>
        </p:txBody>
      </p:sp>
      <p:sp>
        <p:nvSpPr>
          <p:cNvPr id="9" name="TextBox 8"/>
          <p:cNvSpPr txBox="1"/>
          <p:nvPr>
            <p:ph type="sldNum" sz="quarter"/>
          </p:nvPr>
        </p:nvSpPr>
        <p:spPr>
          <a:xfrm>
            <a:off x="7802575" y="6620256"/>
            <a:ext cx="3657600" cy="182880"/>
          </a:xfrm>
          <a:prstGeom prst="rect">
            <a:avLst/>
          </a:prstGeom>
          <a:noFill/>
        </p:spPr>
        <p:txBody>
          <a:bodyPr wrap="none" lIns="0" tIns="0" rIns="0" bIns="0">
            <a:spAutoFit/>
          </a:bodyPr>
          <a:lstStyle/>
          <a:p>
            <a:pPr algn="r"/>
            <a:fld id="{53AF88E2-2E5C-47E5-9D67-7D15B9A608F7}" type="slidenum">
              <a:rPr sz="900" face="Arial">
                <a:solidFill>
                  <a:srgbClr val="1E293B"/>
                </a:solidFill>
              </a:rPr>
              <a:t>12</a:t>
            </a:fld>
            <a:r>
              <a:rPr sz="900" face="Arial">
                <a:solidFill>
                  <a:srgbClr val="1E293B"/>
                </a:solidFill>
              </a:rPr>
              <a:t> / 14</a:t>
            </a:r>
          </a:p>
        </p:txBody>
      </p:sp>
      <p:pic>
        <p:nvPicPr>
          <p:cNvPr id="43" name="Picture 42" descr="qrcode_transparente.png"/>
          <p:cNvPicPr>
            <a:picLocks noChangeAspect="1"/>
          </p:cNvPicPr>
          <p:nvPr/>
        </p:nvPicPr>
        <p:blipFill>
          <a:blip r:embed="rId5"/>
          <a:stretch>
            <a:fillRect/>
          </a:stretch>
        </p:blipFill>
        <p:spPr>
          <a:xfrm>
            <a:off x="9326880" y="3931920"/>
            <a:ext cx="2194560" cy="2194560"/>
          </a:xfrm>
          <a:prstGeom prst="rect">
            <a:avLst/>
          </a:prstGeom>
        </p:spPr>
      </p:pic>
    </p:spTree>
  </p:cSld>
  <p:clrMapOvr>
    <a:masterClrMapping/>
  </p:clrMapOvr>
  <p:transition spd="med">
    <p:fade/>
  </p:transition>
  <p:timing>
    <p:tnLst>
      <p:par>
        <p:cTn id="0" dur="indefinite" nodeType="tmRoot">
          <p:childTnLst>
            <p:seq concurrent="1" nextAc="nextTemplate" type="sldAnimMeth">
              <p:cTn id="1" dur="indefinite" nodeType="mainSeq">
                <p:childTnLst>
                  <p:par>
                    <p:cTn id="10" fill="hold" nodeType="clickEffect">
                      <p:stCondLst>
                        <p:cond evt="onBegin" delay="0"/>
                      </p:stCondLst>
                      <p:childTnLst>
                        <p:anim dur="500" calcmode="linear" valueType="num">
                          <p:cBhvr>
                            <p:cTn id="11" dur="500"/>
                            <p:tgtEl>
                              <p:spTgt spid="2"/>
                            </p:tgtEl>
                            <p:attrNameLst>
                              <p:attrName>style.opacity</p:attrName>
                            </p:attrNameLst>
                          </p:cBhvr>
                          <p:tavLst>
                            <p:tav tm="0">
                              <p:val>
                                <p:numVal val="0"/>
                              </p:val>
                            </p:tav>
                            <p:tav tm="100000">
                              <p:val>
                                <p:numVal val="1"/>
                              </p:val>
                            </p:tav>
                          </p:tavLst>
                        </p:anim>
                        <p:set>
                          <p:cBhvr>
                            <p:cTn id="12" dur="1" fill="hold"/>
                            <p:tgtEl>
                              <p:spTgt spid="2"/>
                            </p:tgtEl>
                            <p:attrNameLst>
                              <p:attrName>style.visibility</p:attrName>
                            </p:attrNameLst>
                          </p:cBhvr>
                          <p:to>
                            <p:strVal val="visible"/>
                          </p:to>
                        </p:set>
                      </p:childTnLst>
                    </p:cTn>
                  </p:par>
                  <p:par>
                    <p:cTn id="20" fill="hold" nodeType="clickEffect">
                      <p:stCondLst>
                        <p:cond evt="onBegin" delay="0"/>
                      </p:stCondLst>
                      <p:childTnLst>
                        <p:anim dur="500" calcmode="linear" valueType="num">
                          <p:cBhvr>
                            <p:cTn id="21" dur="500"/>
                            <p:tgtEl>
                              <p:spTgt spid="3"/>
                            </p:tgtEl>
                            <p:attrNameLst>
                              <p:attrName>style.opacity</p:attrName>
                            </p:attrNameLst>
                          </p:cBhvr>
                          <p:tavLst>
                            <p:tav tm="0">
                              <p:val>
                                <p:numVal val="0"/>
                              </p:val>
                            </p:tav>
                            <p:tav tm="100000">
                              <p:val>
                                <p:numVal val="1"/>
                              </p:val>
                            </p:tav>
                          </p:tavLst>
                        </p:anim>
                        <p:set>
                          <p:cBhvr>
                            <p:cTn id="22" dur="1" fill="hold"/>
                            <p:tgtEl>
                              <p:spTgt spid="3"/>
                            </p:tgtEl>
                            <p:attrNameLst>
                              <p:attrName>style.visibility</p:attrName>
                            </p:attrNameLst>
                          </p:cBhvr>
                          <p:to>
                            <p:strVal val="visible"/>
                          </p:to>
                        </p:set>
                      </p:childTnLst>
                    </p:cTn>
                  </p:par>
                  <p:par>
                    <p:cTn id="30" fill="hold" nodeType="clickEffect">
                      <p:stCondLst>
                        <p:cond evt="onBegin" delay="0"/>
                      </p:stCondLst>
                      <p:childTnLst>
                        <p:anim dur="500" calcmode="linear" valueType="num">
                          <p:cBhvr>
                            <p:cTn id="31" dur="500"/>
                            <p:tgtEl>
                              <p:spTgt spid="5"/>
                            </p:tgtEl>
                            <p:attrNameLst>
                              <p:attrName>style.opacity</p:attrName>
                            </p:attrNameLst>
                          </p:cBhvr>
                          <p:tavLst>
                            <p:tav tm="0">
                              <p:val>
                                <p:numVal val="0"/>
                              </p:val>
                            </p:tav>
                            <p:tav tm="100000">
                              <p:val>
                                <p:numVal val="1"/>
                              </p:val>
                            </p:tav>
                          </p:tavLst>
                        </p:anim>
                        <p:set>
                          <p:cBhvr>
                            <p:cTn id="32" dur="1" fill="hold"/>
                            <p:tgtEl>
                              <p:spTgt spid="5"/>
                            </p:tgtEl>
                            <p:attrNameLst>
                              <p:attrName>style.visibility</p:attrName>
                            </p:attrNameLst>
                          </p:cBhvr>
                          <p:to>
                            <p:strVal val="visible"/>
                          </p:to>
                        </p:set>
                      </p:childTnLst>
                    </p:cTn>
                  </p:par>
                  <p:par>
                    <p:cTn id="40" fill="hold" nodeType="clickEffect">
                      <p:stCondLst>
                        <p:cond evt="onBegin" delay="0"/>
                      </p:stCondLst>
                      <p:childTnLst>
                        <p:anim dur="500" calcmode="linear" valueType="num">
                          <p:cBhvr>
                            <p:cTn id="41" dur="500"/>
                            <p:tgtEl>
                              <p:spTgt spid="4"/>
                            </p:tgtEl>
                            <p:attrNameLst>
                              <p:attrName>style.opacity</p:attrName>
                            </p:attrNameLst>
                          </p:cBhvr>
                          <p:tavLst>
                            <p:tav tm="0">
                              <p:val>
                                <p:numVal val="0"/>
                              </p:val>
                            </p:tav>
                            <p:tav tm="100000">
                              <p:val>
                                <p:numVal val="1"/>
                              </p:val>
                            </p:tav>
                          </p:tavLst>
                        </p:anim>
                        <p:set>
                          <p:cBhvr>
                            <p:cTn id="42" dur="1" fill="hold"/>
                            <p:tgtEl>
                              <p:spTgt spid="4"/>
                            </p:tgtEl>
                            <p:attrNameLst>
                              <p:attrName>style.visibility</p:attrName>
                            </p:attrNameLst>
                          </p:cBhvr>
                          <p:to>
                            <p:strVal val="visible"/>
                          </p:to>
                        </p:set>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F766E"/>
      </a:hlink>
      <a:folHlink>
        <a:srgbClr val="0F766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