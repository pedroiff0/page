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firstSlideNum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phrandrade.com" TargetMode="External"/><Relationship Id="rId4" Type="http://schemas.openxmlformats.org/officeDocument/2006/relationships/hyperlink" Target="mailto:pedroiff0@gmail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2316480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91C1C"/>
                </a:solidFill>
                <a:latin typeface="Arial"/>
              </a:defRPr>
            </a:pPr>
            <a:r>
              <a:t>AULA 18: CUSTOMIZAÇÃO DE FLOATS, FANCYHDR E NBR 6027</a:t>
            </a:r>
          </a:p>
          <a:p>
            <a:pPr>
              <a:defRPr sz="1600">
                <a:solidFill>
                  <a:srgbClr val="15803D"/>
                </a:solidFill>
              </a:defRPr>
            </a:pPr>
            <a:r>
              <a:t>Cabeçalhos fancyhdr, listas preliminares customizadas (LOQ/LOA) e sumário NBR 6027</a:t>
            </a:r>
            <a:br/>
            <a:r>
              <a:t>Curso: LaTeX e Escrita Acadêmica — Normas ABNT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91C1C"/>
                </a:solidFill>
                <a:latin typeface="Arial"/>
              </a:defRPr>
            </a:pPr>
            <a:r>
              <a:t>AULA 18: CUSTOMIZAÇÃO DE FLOATS, FANCYHDR E NBR 6027</a:t>
            </a:r>
          </a:p>
          <a:p>
            <a:pPr>
              <a:defRPr sz="1600">
                <a:solidFill>
                  <a:srgbClr val="15803D"/>
                </a:solidFill>
              </a:defRPr>
            </a:pPr>
            <a:r>
              <a:t>Cabeçalhos fancyhdr, listas preliminares customizadas (LOQ/LOA) e sumário NBR 6027</a:t>
            </a:r>
            <a:br/>
            <a:r>
              <a:t>Curso: LaTeX e Escrita Acadêmica — Normas ABNT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Sumário da Apresentação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1. Introdução e Contexto: </a:t>
            </a:r>
            <a:r>
              <a:rPr sz="1400">
                <a:solidFill>
                  <a:srgbClr val="1E293B"/>
                </a:solidFill>
                <a:latin typeface="Arial"/>
              </a:rPr>
              <a:t>O conflito histórico de abundâncias químicas no disco local.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2. Desafios Espectroscópicos: </a:t>
            </a:r>
            <a:r>
              <a:rPr sz="1400">
                <a:solidFill>
                  <a:srgbClr val="1E293B"/>
                </a:solidFill>
                <a:latin typeface="Arial"/>
              </a:rPr>
              <a:t>A complexidade das atmosferas frias e bandas de TiO.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3. Metodologia Observacional e Teórica: </a:t>
            </a:r>
            <a:r>
              <a:rPr sz="1400">
                <a:solidFill>
                  <a:srgbClr val="1E293B"/>
                </a:solidFill>
                <a:latin typeface="Arial"/>
              </a:rPr>
              <a:t>Estudos benchmark 3D NLTE e modelos ABNT NBR 14724 (OMEGA+).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4. Reconciliação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Resultados de C, O, Na e Ni e o enigma persistente do Titânio.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5. Conexão Exoplanetária e Conclusões: </a:t>
            </a:r>
            <a:r>
              <a:rPr sz="1400">
                <a:solidFill>
                  <a:srgbClr val="1E293B"/>
                </a:solidFill>
                <a:latin typeface="Arial"/>
              </a:rPr>
              <a:t>Impacto na geofísica de planetas rochosos e a missão Ariel.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6. Referências Bibliográficas: </a:t>
            </a:r>
            <a:r>
              <a:rPr sz="1400">
                <a:solidFill>
                  <a:srgbClr val="1E293B"/>
                </a:solidFill>
                <a:latin typeface="Arial"/>
              </a:rPr>
              <a:t>Literatura fundamental utilizada no trabalho.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1. Introdução e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Anãs M na Galáxia: </a:t>
            </a:r>
            <a:r>
              <a:rPr sz="1400">
                <a:solidFill>
                  <a:srgbClr val="1E293B"/>
                </a:solidFill>
                <a:latin typeface="Arial"/>
              </a:rPr>
              <a:t>Constituem cerca de 70% da população estelar da Via Láctea, alvos principais para buscas de exoplanetas.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Preservação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Sua evolução ultra lenta preserva na fotosfera a assinatura intacta da nuvem molecular original.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Problema Científico: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encontravam discrepâncias químicas severas entre anãs M e FGK no disco local.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52120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00923F"/>
                </a:solidFill>
                <a:latin typeface="Arial"/>
              </a:defRPr>
            </a:pPr>
            <a:r>
              <a:t>A Controvérsia Química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Modelagem Física: </a:t>
            </a:r>
            <a:r>
              <a:rPr sz="1400">
                <a:solidFill>
                  <a:srgbClr val="1E293B"/>
                </a:solidFill>
                <a:latin typeface="Arial"/>
              </a:rPr>
              <a:t>Vieses sistemáticos de 1D LTE distorciam a análise espectral nas anãs M.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Questão-Chave: </a:t>
            </a:r>
            <a:r>
              <a:rPr sz="1400">
                <a:solidFill>
                  <a:srgbClr val="1E293B"/>
                </a:solidFill>
                <a:latin typeface="Arial"/>
              </a:rPr>
              <a:t>Isso indica enriquecimento anômalo ou falhas de espectroscopia?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2. Desafios Espectroscópicos em Estrelas Frias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Temperaturas Baixas (&lt; 4000 K): </a:t>
            </a:r>
            <a:r>
              <a:rPr sz="1400">
                <a:solidFill>
                  <a:srgbClr val="1E293B"/>
                </a:solidFill>
                <a:latin typeface="Arial"/>
              </a:rPr>
              <a:t>Permitem condensação molecular na fotosfera, saturando o espectro.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Bandas de TiO: </a:t>
            </a:r>
            <a:r>
              <a:rPr sz="1400">
                <a:solidFill>
                  <a:srgbClr val="1E293B"/>
                </a:solidFill>
                <a:latin typeface="Arial"/>
              </a:rPr>
              <a:t>Óxido de Titânio polui e bloqueia o contínuo óptico, cobrindo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de 1D LTE: </a:t>
            </a:r>
            <a:r>
              <a:rPr sz="1400">
                <a:solidFill>
                  <a:srgbClr val="1E293B"/>
                </a:solidFill>
                <a:latin typeface="Arial"/>
              </a:rPr>
              <a:t>Suposição clássica de LTE unidimensional distorce abundâncias obtidas de linhas de ressonância.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Importância de NLTE 3D: </a:t>
            </a:r>
            <a:r>
              <a:rPr sz="1400">
                <a:solidFill>
                  <a:srgbClr val="1E293B"/>
                </a:solidFill>
                <a:latin typeface="Arial"/>
              </a:rPr>
              <a:t>Modelos avançados são cruciais para isolar metalicidades e elementos refratários como Na e 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Amarsi et al. (2019), Bergemann et al. (2017)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3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3. Metodologia Observacional: Amostra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Amostra Benchmark: </a:t>
            </a:r>
            <a:r>
              <a:rPr sz="1400">
                <a:solidFill>
                  <a:srgbClr val="1E293B"/>
                </a:solidFill>
                <a:latin typeface="Arial"/>
              </a:rPr>
              <a:t>47 estrelas anãs M selecionadas dos catálogos APOGEE, CARMENES e Subaru/IRD.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Homogeneidade: </a:t>
            </a:r>
            <a:r>
              <a:rPr sz="1400">
                <a:solidFill>
                  <a:srgbClr val="1E293B"/>
                </a:solidFill>
                <a:latin typeface="Arial"/>
              </a:rPr>
              <a:t>Uso exclusivo de atmosferas modelo MARCS para calibração espectral.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FGK de Referência: </a:t>
            </a:r>
            <a:r>
              <a:rPr sz="1400">
                <a:solidFill>
                  <a:srgbClr val="1E293B"/>
                </a:solidFill>
                <a:latin typeface="Arial"/>
              </a:rPr>
              <a:t>Dados compilados e corrigidos para efeitos tridimensionais Não-LTE no disco local.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Faixa de Metalicidade: </a:t>
            </a:r>
            <a:r>
              <a:rPr sz="1400">
                <a:solidFill>
                  <a:srgbClr val="1E293B"/>
                </a:solidFill>
                <a:latin typeface="Arial"/>
              </a:rPr>
              <a:t>Foco no disco fino galáctico cobrindo -0.5 &lt;= [Fe/H] &lt;= +0.4.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Gustafsson et al. (2008), Trueman et al. (2026)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Espectros / Diagrama HR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4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4. Metodologia Teórica: Modelos ABNT NBR 14724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Código OMEGA+: </a:t>
            </a:r>
            <a:r>
              <a:rPr sz="1400">
                <a:solidFill>
                  <a:srgbClr val="1E293B"/>
                </a:solidFill>
                <a:latin typeface="Arial"/>
              </a:rPr>
              <a:t>Simulações de enriquecimento químico baseadas em modelo de duas zonas (galáxia e meio circumgaláctico).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Rendimentos de Nucleossíntese: </a:t>
            </a:r>
            <a:r>
              <a:rPr sz="1400">
                <a:solidFill>
                  <a:srgbClr val="1E293B"/>
                </a:solidFill>
                <a:latin typeface="Arial"/>
              </a:rPr>
              <a:t>Modelos comparativos de supernovas core-collapse (CCSN) de Nomoto (2013) e Limongi &amp; Chieffi (2018).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Supernovas Tipo Ia: </a:t>
            </a:r>
            <a:r>
              <a:rPr sz="1400">
                <a:solidFill>
                  <a:srgbClr val="1E293B"/>
                </a:solidFill>
                <a:latin typeface="Arial"/>
              </a:rPr>
              <a:t>Delay-Time Distribution (DTD) calibrado com platô de 1 Gyr para ajuste dos elementos do grupo do ferro.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Dispersão no Disco: </a:t>
            </a:r>
            <a:r>
              <a:rPr sz="1400">
                <a:solidFill>
                  <a:srgbClr val="1E293B"/>
                </a:solidFill>
                <a:latin typeface="Arial"/>
              </a:rPr>
              <a:t>Simulação de 6 trilhas independentes mapeando o espalhamento de metalicidade solar local.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Nomoto et al. (2013), Limongi &amp; Chieffi (2018)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5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5. Resultados: Reconciliação Química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Slopes Equivalentes: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[C/H], [O/H], [Na/Fe] e [Ni/Fe] nas anãs M e FGK apresentam a mesma inclinação.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Ajuste por Regressão ODR: </a:t>
            </a:r>
            <a:r>
              <a:rPr sz="1400">
                <a:solidFill>
                  <a:srgbClr val="1E293B"/>
                </a:solidFill>
                <a:latin typeface="Arial"/>
              </a:rPr>
              <a:t>Sobreposição completa de 1-sigma nas bandas de confiança estatística.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Resolução de Divergências: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divergiam porque não corrigiam os dados de FGK com modelos 3D NLTE.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Sucesso do OMEGA+: </a:t>
            </a:r>
            <a:r>
              <a:rPr sz="1400">
                <a:solidFill>
                  <a:srgbClr val="1E293B"/>
                </a:solidFill>
                <a:latin typeface="Arial"/>
              </a:rPr>
              <a:t>Excelente acordo entre previsões dos modelos ABNT NBR 14724 e observações estelares.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Regressão ODR / Abundâncias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6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6. A Exceção Singular do Titânio ([Ti/H])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Incompatibilidade Estatística (p ~ 0.00): </a:t>
            </a:r>
            <a:r>
              <a:rPr sz="1400">
                <a:solidFill>
                  <a:srgbClr val="1E293B"/>
                </a:solidFill>
                <a:latin typeface="Arial"/>
              </a:rPr>
              <a:t>O slope obtido para [Ti/H] em anãs M diverge severamente em relação às estrelas FGK.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Gargalo de Condensação: </a:t>
            </a:r>
            <a:r>
              <a:rPr sz="1400">
                <a:solidFill>
                  <a:srgbClr val="1E293B"/>
                </a:solidFill>
                <a:latin typeface="Arial"/>
              </a:rPr>
              <a:t>Em atmosferas frias de anãs M, o Ti é incorporado na formação de TiO, reduzindo as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em Espectros: </a:t>
            </a:r>
            <a:r>
              <a:rPr sz="1400">
                <a:solidFill>
                  <a:srgbClr val="1E293B"/>
                </a:solidFill>
                <a:latin typeface="Arial"/>
              </a:rPr>
              <a:t>Uso de linhas de Ti I atômico sem devidas correções de Não-LTE causa subestimação sistemática de abundâncias.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Causa Identificada: </a:t>
            </a:r>
            <a:r>
              <a:rPr sz="1400">
                <a:solidFill>
                  <a:srgbClr val="1E293B"/>
                </a:solidFill>
                <a:latin typeface="Arial"/>
              </a:rPr>
              <a:t>A discrepância é de natureza metodológica observacional, e não reflete uma anomalia química real galáctica.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7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7. Implicações na Caracterização Exoplanetária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Composição do Disco: </a:t>
            </a:r>
            <a:r>
              <a:rPr sz="1400">
                <a:solidFill>
                  <a:srgbClr val="1E293B"/>
                </a:solidFill>
                <a:latin typeface="Arial"/>
              </a:rPr>
              <a:t>As abundâncias estelares regulam as frações de refratários e voláteis no disco protoestelar.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Geofísica de Mundos Rochosos: </a:t>
            </a:r>
            <a:r>
              <a:rPr sz="1400">
                <a:solidFill>
                  <a:srgbClr val="1E293B"/>
                </a:solidFill>
                <a:latin typeface="Arial"/>
              </a:rPr>
              <a:t>Razões chaves como [Mg/Si] e [C/O] determinam mineralogia do manto e tamanho de núcleos de ferro planetários.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Parâmetro Ariel: </a:t>
            </a:r>
            <a:r>
              <a:rPr sz="1400">
                <a:solidFill>
                  <a:srgbClr val="1E293B"/>
                </a:solidFill>
                <a:latin typeface="Arial"/>
              </a:rPr>
              <a:t>A missão espacial Ariel usará a composição química estelar para estimar a geodinâmica e a atmosfera dos exoplanetas.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ABNT NBR 14724 como Benchmark: </a:t>
            </a:r>
            <a:r>
              <a:rPr sz="1400">
                <a:solidFill>
                  <a:srgbClr val="1E293B"/>
                </a:solidFill>
                <a:latin typeface="Arial"/>
              </a:rPr>
              <a:t>A consistência valida o uso de modelos galácticos para normalizar composições em surveys exoplanetários amplos.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Ariel White Paper (2021)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8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8. Conclusões e Perspectivas Futuras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Coerência Química: </a:t>
            </a:r>
            <a:r>
              <a:rPr sz="1400">
                <a:solidFill>
                  <a:srgbClr val="1E293B"/>
                </a:solidFill>
                <a:latin typeface="Arial"/>
              </a:rPr>
              <a:t>Anãs M e estrelas FGK na vizinhança solar compartilham da mesma história de enriquecimento químico galáctico.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Superação de Vieses: </a:t>
            </a:r>
            <a:r>
              <a:rPr sz="1400">
                <a:solidFill>
                  <a:srgbClr val="1E293B"/>
                </a:solidFill>
                <a:latin typeface="Arial"/>
              </a:rPr>
              <a:t>Modelos tridimensionais fora de LTE são cruciais para reestabelecer concordâncias espectroscópicas.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Calibração Teórica: </a:t>
            </a:r>
            <a:r>
              <a:rPr sz="1400">
                <a:solidFill>
                  <a:srgbClr val="1E293B"/>
                </a:solidFill>
                <a:latin typeface="Arial"/>
              </a:rPr>
              <a:t>Códigos de evolução química como o OMEGA+ servem como verificação independente de discrepâncias espectrais.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Apoio 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A determinação refinada das abundâncias estelares garante inferências precisas sobre interiores de exoplanetas.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9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9. Síntese do Conteúdo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Modelagem 3D NLTE: </a:t>
            </a:r>
            <a:r>
              <a:rPr sz="1400">
                <a:solidFill>
                  <a:srgbClr val="1E293B"/>
                </a:solidFill>
                <a:latin typeface="Arial"/>
              </a:rPr>
              <a:t>Fundamental para eliminar discrepâncias artificiais nas anãs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Harmonia Química Local: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C, O, Na e Ni no disco local são homogêneas.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Desvio Metodológico: </a:t>
            </a:r>
            <a:r>
              <a:rPr sz="1400">
                <a:solidFill>
                  <a:srgbClr val="1E293B"/>
                </a:solidFill>
                <a:latin typeface="Arial"/>
              </a:rPr>
              <a:t>O desvio de [Ti/H] é físico-químico (TiO e LTE), não nucleossintético.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Base para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Validação dos modelos ABNT NBR 14724 como referência para caracterizar outros mundos.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10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Referências Bibliográficas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Trueman, T. C. L., et al. 2026, </a:t>
            </a:r>
            <a:r>
              <a:rPr sz="1300">
                <a:solidFill>
                  <a:srgbClr val="1E293B"/>
                </a:solidFill>
                <a:latin typeface="Arial"/>
              </a:rPr>
              <a:t>ApJ, 1024, L15 (Paper base do IFF — CONFICT)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Amarsi, A. M., et al. 2019, </a:t>
            </a:r>
            <a:r>
              <a:rPr sz="1300">
                <a:solidFill>
                  <a:srgbClr val="1E293B"/>
                </a:solidFill>
                <a:latin typeface="Arial"/>
              </a:rPr>
              <a:t>A&amp;A, 624, A111 (Correções Não-LTE 3D para estrelas FGK)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Bergemann, M., et al. 2017, </a:t>
            </a:r>
            <a:r>
              <a:rPr sz="1300">
                <a:solidFill>
                  <a:srgbClr val="1E293B"/>
                </a:solidFill>
                <a:latin typeface="Arial"/>
              </a:rPr>
              <a:t>MNRAS, 471, 331 (Modelos de atmosferas estelares em NLTE)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Nomoto, K., et al. 2013, </a:t>
            </a:r>
            <a:r>
              <a:rPr sz="1300">
                <a:solidFill>
                  <a:srgbClr val="1E293B"/>
                </a:solidFill>
                <a:latin typeface="Arial"/>
              </a:rPr>
              <a:t>ARA&amp;A, 51, 457 (Rendimentos químicos galácticos para CCSN)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Limongi, M., &amp; Chieffi, A. 2018, </a:t>
            </a:r>
            <a:r>
              <a:rPr sz="1300">
                <a:solidFill>
                  <a:srgbClr val="1E293B"/>
                </a:solidFill>
                <a:latin typeface="Arial"/>
              </a:rPr>
              <a:t>ApJS, 237, 13 (Nucleossíntese em estrelas massivas rotativas)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Gustafsson, B., et al. 2008, </a:t>
            </a:r>
            <a:r>
              <a:rPr sz="1300">
                <a:solidFill>
                  <a:srgbClr val="1E293B"/>
                </a:solidFill>
                <a:latin typeface="Arial"/>
              </a:rPr>
              <a:t>A&amp;A, 486, 951 (Grade de atmosferas modelo MARCS)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94360"/>
            <a:ext cx="3749039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Obrigado!</a:t>
            </a:r>
          </a:p>
          <a:p>
            <a:pPr>
              <a:defRPr sz="3200" b="1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Dúvidas?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52928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E293B"/>
                </a:solidFill>
                <a:latin typeface="Arial"/>
              </a:defRPr>
            </a:pPr>
            <a:r>
              <a:t>Pedro H. R. de Andrade</a:t>
            </a:r>
          </a:p>
          <a:p>
            <a:pPr>
              <a:defRPr sz="1600">
                <a:solidFill>
                  <a:srgbClr val="00923F"/>
                </a:solidFill>
                <a:latin typeface="Arial"/>
              </a:defRPr>
            </a:pPr>
            <a:r>
              <a:t>E-mail: pedroiff0@gmail.com</a:t>
            </a:r>
          </a:p>
        </p:txBody>
      </p:sp>
      <p:pic>
        <p:nvPicPr>
          <p:cNvPr id="4" name="Picture 3" descr="cosmic_qrcode_transparente_p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18504" y="6126480"/>
            <a:ext cx="52120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i="1">
                <a:solidFill>
                  <a:srgbClr val="00923F"/>
                </a:solidFill>
                <a:latin typeface="Arial"/>
                <a:hlinkClick r:id="rId3"/>
              </a:rPr>
              <a:t>www.phrandrade.com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4"/>
              </a:rPr>
              <a:t>Pedro H. R.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9" name="TextBox 8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3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5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4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original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pic>
        <p:nvPicPr>
          <p:cNvPr id="3" name="Picture 2" descr="qrcode_transpar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931920"/>
            <a:ext cx="2194560" cy="21945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F766E"/>
      </a:hlink>
      <a:folHlink>
        <a:srgbClr val="0F766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